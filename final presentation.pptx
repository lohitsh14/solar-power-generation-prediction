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0"/>
  </p:notesMasterIdLst>
  <p:sldIdLst>
    <p:sldId id="256" r:id="rId2"/>
    <p:sldId id="262" r:id="rId3"/>
    <p:sldId id="257" r:id="rId4"/>
    <p:sldId id="258" r:id="rId5"/>
    <p:sldId id="259" r:id="rId6"/>
    <p:sldId id="260" r:id="rId7"/>
    <p:sldId id="261" r:id="rId8"/>
    <p:sldId id="263" r:id="rId9"/>
    <p:sldId id="279" r:id="rId10"/>
    <p:sldId id="280" r:id="rId11"/>
    <p:sldId id="264" r:id="rId12"/>
    <p:sldId id="265" r:id="rId13"/>
    <p:sldId id="282" r:id="rId14"/>
    <p:sldId id="284" r:id="rId15"/>
    <p:sldId id="287" r:id="rId16"/>
    <p:sldId id="286" r:id="rId17"/>
    <p:sldId id="289" r:id="rId18"/>
    <p:sldId id="276" r:id="rId19"/>
  </p:sldIdLst>
  <p:sldSz cx="18288000" cy="10287000"/>
  <p:notesSz cx="6858000" cy="9144000"/>
  <p:embeddedFontLst>
    <p:embeddedFont>
      <p:font typeface="Nunito" pitchFamily="2" charset="0"/>
      <p:regular r:id="rId21"/>
      <p:bold r:id="rId22"/>
      <p:italic r:id="rId23"/>
      <p:boldItalic r:id="rId24"/>
    </p:embeddedFont>
    <p:embeddedFont>
      <p:font typeface="Nunito SemiBold" pitchFamily="2" charset="0"/>
      <p:regular r:id="rId25"/>
      <p:bold r:id="rId26"/>
      <p:italic r:id="rId27"/>
      <p:boldItalic r:id="rId28"/>
    </p:embeddedFont>
    <p:embeddedFont>
      <p:font typeface="Paytone One" panose="020B0604020202020204" charset="0"/>
      <p:regular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684123D-EC7A-4182-A39B-DB72195FDC9A}">
  <a:tblStyle styleId="{7684123D-EC7A-4182-A39B-DB72195FDC9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4" d="100"/>
          <a:sy n="54" d="100"/>
        </p:scale>
        <p:origin x="754" y="29"/>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dirty="0"/>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69" name="Google Shape;16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8" name="Google Shape;10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28" name="Google Shape;12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39" name="Google Shape;13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53" name="Google Shape;15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91" name="Google Shape;19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06" name="Google Shape;20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16" name="Google Shape;21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a:extLst>
            <a:ext uri="{FF2B5EF4-FFF2-40B4-BE49-F238E27FC236}">
              <a16:creationId xmlns:a16="http://schemas.microsoft.com/office/drawing/2014/main" id="{86142AE8-C317-ED81-FF9F-EB2F6BA68CEC}"/>
            </a:ext>
          </a:extLst>
        </p:cNvPr>
        <p:cNvGrpSpPr/>
        <p:nvPr/>
      </p:nvGrpSpPr>
      <p:grpSpPr>
        <a:xfrm>
          <a:off x="0" y="0"/>
          <a:ext cx="0" cy="0"/>
          <a:chOff x="0" y="0"/>
          <a:chExt cx="0" cy="0"/>
        </a:xfrm>
      </p:grpSpPr>
      <p:sp>
        <p:nvSpPr>
          <p:cNvPr id="215" name="Google Shape;215;p10:notes">
            <a:extLst>
              <a:ext uri="{FF2B5EF4-FFF2-40B4-BE49-F238E27FC236}">
                <a16:creationId xmlns:a16="http://schemas.microsoft.com/office/drawing/2014/main" id="{6583EA55-B457-A968-3C87-BFEBA1D9E2F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16" name="Google Shape;216;p10:notes">
            <a:extLst>
              <a:ext uri="{FF2B5EF4-FFF2-40B4-BE49-F238E27FC236}">
                <a16:creationId xmlns:a16="http://schemas.microsoft.com/office/drawing/2014/main" id="{69499B94-1D65-6A78-73CE-9E0155BECE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42874645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a:extLst>
            <a:ext uri="{FF2B5EF4-FFF2-40B4-BE49-F238E27FC236}">
              <a16:creationId xmlns:a16="http://schemas.microsoft.com/office/drawing/2014/main" id="{90A5AD9C-88D7-389B-9A99-AB6FA814E155}"/>
            </a:ext>
          </a:extLst>
        </p:cNvPr>
        <p:cNvGrpSpPr/>
        <p:nvPr/>
      </p:nvGrpSpPr>
      <p:grpSpPr>
        <a:xfrm>
          <a:off x="0" y="0"/>
          <a:ext cx="0" cy="0"/>
          <a:chOff x="0" y="0"/>
          <a:chExt cx="0" cy="0"/>
        </a:xfrm>
      </p:grpSpPr>
      <p:sp>
        <p:nvSpPr>
          <p:cNvPr id="215" name="Google Shape;215;p10:notes">
            <a:extLst>
              <a:ext uri="{FF2B5EF4-FFF2-40B4-BE49-F238E27FC236}">
                <a16:creationId xmlns:a16="http://schemas.microsoft.com/office/drawing/2014/main" id="{3816C8D9-7298-E435-BF71-87CC1D4C8B1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16" name="Google Shape;216;p10:notes">
            <a:extLst>
              <a:ext uri="{FF2B5EF4-FFF2-40B4-BE49-F238E27FC236}">
                <a16:creationId xmlns:a16="http://schemas.microsoft.com/office/drawing/2014/main" id="{AF0D5F28-EBB2-B793-F609-040C25E6AB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31011717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a:extLst>
            <a:ext uri="{FF2B5EF4-FFF2-40B4-BE49-F238E27FC236}">
              <a16:creationId xmlns:a16="http://schemas.microsoft.com/office/drawing/2014/main" id="{6B79CE41-48EE-90DB-938A-C0F699BEF004}"/>
            </a:ext>
          </a:extLst>
        </p:cNvPr>
        <p:cNvGrpSpPr/>
        <p:nvPr/>
      </p:nvGrpSpPr>
      <p:grpSpPr>
        <a:xfrm>
          <a:off x="0" y="0"/>
          <a:ext cx="0" cy="0"/>
          <a:chOff x="0" y="0"/>
          <a:chExt cx="0" cy="0"/>
        </a:xfrm>
      </p:grpSpPr>
      <p:sp>
        <p:nvSpPr>
          <p:cNvPr id="215" name="Google Shape;215;p10:notes">
            <a:extLst>
              <a:ext uri="{FF2B5EF4-FFF2-40B4-BE49-F238E27FC236}">
                <a16:creationId xmlns:a16="http://schemas.microsoft.com/office/drawing/2014/main" id="{552229F2-59C7-0287-B57C-AC9BA312C9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16" name="Google Shape;216;p10:notes">
            <a:extLst>
              <a:ext uri="{FF2B5EF4-FFF2-40B4-BE49-F238E27FC236}">
                <a16:creationId xmlns:a16="http://schemas.microsoft.com/office/drawing/2014/main" id="{EC94A60F-6475-0343-B53A-CC1482E55A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21595419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a:extLst>
            <a:ext uri="{FF2B5EF4-FFF2-40B4-BE49-F238E27FC236}">
              <a16:creationId xmlns:a16="http://schemas.microsoft.com/office/drawing/2014/main" id="{EB2D3904-C7AB-E5EC-2DC2-6E313284FCFB}"/>
            </a:ext>
          </a:extLst>
        </p:cNvPr>
        <p:cNvGrpSpPr/>
        <p:nvPr/>
      </p:nvGrpSpPr>
      <p:grpSpPr>
        <a:xfrm>
          <a:off x="0" y="0"/>
          <a:ext cx="0" cy="0"/>
          <a:chOff x="0" y="0"/>
          <a:chExt cx="0" cy="0"/>
        </a:xfrm>
      </p:grpSpPr>
      <p:sp>
        <p:nvSpPr>
          <p:cNvPr id="215" name="Google Shape;215;p10:notes">
            <a:extLst>
              <a:ext uri="{FF2B5EF4-FFF2-40B4-BE49-F238E27FC236}">
                <a16:creationId xmlns:a16="http://schemas.microsoft.com/office/drawing/2014/main" id="{35593832-7257-E9C8-72C7-304BB8730A0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16" name="Google Shape;216;p10:notes">
            <a:extLst>
              <a:ext uri="{FF2B5EF4-FFF2-40B4-BE49-F238E27FC236}">
                <a16:creationId xmlns:a16="http://schemas.microsoft.com/office/drawing/2014/main" id="{585AF4BA-8AD7-2D43-3617-32E00DF7DC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25417770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a:extLst>
            <a:ext uri="{FF2B5EF4-FFF2-40B4-BE49-F238E27FC236}">
              <a16:creationId xmlns:a16="http://schemas.microsoft.com/office/drawing/2014/main" id="{2A232F14-0667-FE1B-5214-4A6457014787}"/>
            </a:ext>
          </a:extLst>
        </p:cNvPr>
        <p:cNvGrpSpPr/>
        <p:nvPr/>
      </p:nvGrpSpPr>
      <p:grpSpPr>
        <a:xfrm>
          <a:off x="0" y="0"/>
          <a:ext cx="0" cy="0"/>
          <a:chOff x="0" y="0"/>
          <a:chExt cx="0" cy="0"/>
        </a:xfrm>
      </p:grpSpPr>
      <p:sp>
        <p:nvSpPr>
          <p:cNvPr id="215" name="Google Shape;215;p10:notes">
            <a:extLst>
              <a:ext uri="{FF2B5EF4-FFF2-40B4-BE49-F238E27FC236}">
                <a16:creationId xmlns:a16="http://schemas.microsoft.com/office/drawing/2014/main" id="{18A0C4C3-8700-BB1E-B790-8D120D05A2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16" name="Google Shape;216;p10:notes">
            <a:extLst>
              <a:ext uri="{FF2B5EF4-FFF2-40B4-BE49-F238E27FC236}">
                <a16:creationId xmlns:a16="http://schemas.microsoft.com/office/drawing/2014/main" id="{2B21A984-E156-3EEF-600B-8E94475D1A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37891493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39" name="Google Shape;439;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txBody>
          <a:bodyPr/>
          <a:lstStyle/>
          <a:p>
            <a:endParaRPr lang="en-IN" dirty="0"/>
          </a:p>
        </p:txBody>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9.jp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3.xml"/><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BCC8D4"/>
        </a:solidFill>
        <a:effectLst/>
      </p:bgPr>
    </p:bg>
    <p:spTree>
      <p:nvGrpSpPr>
        <p:cNvPr id="1" name="Shape 83"/>
        <p:cNvGrpSpPr/>
        <p:nvPr/>
      </p:nvGrpSpPr>
      <p:grpSpPr>
        <a:xfrm>
          <a:off x="0" y="0"/>
          <a:ext cx="0" cy="0"/>
          <a:chOff x="0" y="0"/>
          <a:chExt cx="0" cy="0"/>
        </a:xfrm>
      </p:grpSpPr>
      <p:pic>
        <p:nvPicPr>
          <p:cNvPr id="84" name="Google Shape;84;p13"/>
          <p:cNvPicPr preferRelativeResize="0"/>
          <p:nvPr/>
        </p:nvPicPr>
        <p:blipFill>
          <a:blip r:embed="rId3">
            <a:alphaModFix/>
          </a:blip>
          <a:stretch>
            <a:fillRect/>
          </a:stretch>
        </p:blipFill>
        <p:spPr>
          <a:xfrm>
            <a:off x="-2" y="-68350"/>
            <a:ext cx="18288000" cy="13242715"/>
          </a:xfrm>
          <a:prstGeom prst="rect">
            <a:avLst/>
          </a:prstGeom>
          <a:noFill/>
          <a:ln>
            <a:noFill/>
          </a:ln>
        </p:spPr>
      </p:pic>
      <p:pic>
        <p:nvPicPr>
          <p:cNvPr id="85" name="Google Shape;85;p13"/>
          <p:cNvPicPr preferRelativeResize="0"/>
          <p:nvPr/>
        </p:nvPicPr>
        <p:blipFill>
          <a:blip r:embed="rId4">
            <a:alphaModFix/>
          </a:blip>
          <a:stretch>
            <a:fillRect/>
          </a:stretch>
        </p:blipFill>
        <p:spPr>
          <a:xfrm>
            <a:off x="829350" y="369063"/>
            <a:ext cx="16629299" cy="9548873"/>
          </a:xfrm>
          <a:prstGeom prst="rect">
            <a:avLst/>
          </a:prstGeom>
          <a:noFill/>
          <a:ln>
            <a:noFill/>
          </a:ln>
        </p:spPr>
      </p:pic>
      <p:sp>
        <p:nvSpPr>
          <p:cNvPr id="86" name="Google Shape;86;p13"/>
          <p:cNvSpPr txBox="1"/>
          <p:nvPr/>
        </p:nvSpPr>
        <p:spPr>
          <a:xfrm>
            <a:off x="2681168" y="3427504"/>
            <a:ext cx="12925800" cy="3458126"/>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None/>
            </a:pPr>
            <a:r>
              <a:rPr lang="en-US" sz="12484" b="0" i="0" u="none" strike="noStrike" cap="none" dirty="0">
                <a:solidFill>
                  <a:srgbClr val="F1E894"/>
                </a:solidFill>
                <a:latin typeface="Paytone One"/>
                <a:ea typeface="Paytone One"/>
                <a:cs typeface="Paytone One"/>
                <a:sym typeface="Paytone One"/>
              </a:rPr>
              <a:t>SOLAR POWER</a:t>
            </a:r>
          </a:p>
          <a:p>
            <a:pPr marL="0" marR="0" lvl="0" indent="0" algn="ctr" rtl="0">
              <a:lnSpc>
                <a:spcPct val="90000"/>
              </a:lnSpc>
              <a:spcBef>
                <a:spcPts val="0"/>
              </a:spcBef>
              <a:spcAft>
                <a:spcPts val="0"/>
              </a:spcAft>
              <a:buNone/>
            </a:pPr>
            <a:r>
              <a:rPr lang="en-US" sz="12484" dirty="0">
                <a:solidFill>
                  <a:srgbClr val="F1E894"/>
                </a:solidFill>
                <a:latin typeface="Paytone One"/>
                <a:sym typeface="Paytone One"/>
              </a:rPr>
              <a:t>GENERATION</a:t>
            </a:r>
            <a:endParaRPr dirty="0"/>
          </a:p>
        </p:txBody>
      </p:sp>
      <p:sp>
        <p:nvSpPr>
          <p:cNvPr id="87" name="Google Shape;87;p13"/>
          <p:cNvSpPr txBox="1"/>
          <p:nvPr/>
        </p:nvSpPr>
        <p:spPr>
          <a:xfrm>
            <a:off x="6308355" y="2643804"/>
            <a:ext cx="5671289" cy="741037"/>
          </a:xfrm>
          <a:prstGeom prst="rect">
            <a:avLst/>
          </a:prstGeom>
          <a:noFill/>
          <a:ln>
            <a:noFill/>
          </a:ln>
        </p:spPr>
        <p:txBody>
          <a:bodyPr spcFirstLastPara="1" wrap="square" lIns="0" tIns="0" rIns="0" bIns="0" anchor="t" anchorCtr="0">
            <a:spAutoFit/>
          </a:bodyPr>
          <a:lstStyle/>
          <a:p>
            <a:pPr marL="0" marR="0" lvl="0" indent="0" algn="ctr" rtl="0">
              <a:lnSpc>
                <a:spcPct val="130021"/>
              </a:lnSpc>
              <a:spcBef>
                <a:spcPts val="0"/>
              </a:spcBef>
              <a:spcAft>
                <a:spcPts val="0"/>
              </a:spcAft>
              <a:buNone/>
            </a:pPr>
            <a:r>
              <a:rPr lang="en-US" sz="3704" dirty="0">
                <a:solidFill>
                  <a:srgbClr val="7BCFFB"/>
                </a:solidFill>
                <a:latin typeface="Nunito SemiBold"/>
                <a:sym typeface="Nunito SemiBold"/>
              </a:rPr>
              <a:t>DATA SCIENCE PROJECT</a:t>
            </a:r>
            <a:endParaRPr dirty="0"/>
          </a:p>
        </p:txBody>
      </p:sp>
      <p:sp>
        <p:nvSpPr>
          <p:cNvPr id="88" name="Google Shape;88;p13"/>
          <p:cNvSpPr/>
          <p:nvPr/>
        </p:nvSpPr>
        <p:spPr>
          <a:xfrm>
            <a:off x="3380732" y="2903931"/>
            <a:ext cx="2652557" cy="120571"/>
          </a:xfrm>
          <a:custGeom>
            <a:avLst/>
            <a:gdLst/>
            <a:ahLst/>
            <a:cxnLst/>
            <a:rect l="l" t="t" r="r" b="b"/>
            <a:pathLst>
              <a:path w="2652557" h="120571" extrusionOk="0">
                <a:moveTo>
                  <a:pt x="0" y="0"/>
                </a:moveTo>
                <a:lnTo>
                  <a:pt x="2652557" y="0"/>
                </a:lnTo>
                <a:lnTo>
                  <a:pt x="2652557" y="120571"/>
                </a:lnTo>
                <a:lnTo>
                  <a:pt x="0" y="120571"/>
                </a:lnTo>
                <a:lnTo>
                  <a:pt x="0" y="0"/>
                </a:lnTo>
                <a:close/>
              </a:path>
            </a:pathLst>
          </a:custGeom>
          <a:blipFill rotWithShape="1">
            <a:blip r:embed="rId5">
              <a:alphaModFix/>
            </a:blip>
            <a:stretch>
              <a:fillRect/>
            </a:stretch>
          </a:blipFill>
          <a:ln>
            <a:noFill/>
          </a:ln>
        </p:spPr>
        <p:txBody>
          <a:bodyPr/>
          <a:lstStyle/>
          <a:p>
            <a:endParaRPr lang="en-IN" dirty="0"/>
          </a:p>
        </p:txBody>
      </p:sp>
      <p:sp>
        <p:nvSpPr>
          <p:cNvPr id="89" name="Google Shape;89;p13"/>
          <p:cNvSpPr/>
          <p:nvPr/>
        </p:nvSpPr>
        <p:spPr>
          <a:xfrm flipH="1">
            <a:off x="12254711" y="2903931"/>
            <a:ext cx="2652557" cy="120571"/>
          </a:xfrm>
          <a:custGeom>
            <a:avLst/>
            <a:gdLst/>
            <a:ahLst/>
            <a:cxnLst/>
            <a:rect l="l" t="t" r="r" b="b"/>
            <a:pathLst>
              <a:path w="2652557" h="120571" extrusionOk="0">
                <a:moveTo>
                  <a:pt x="2652557" y="0"/>
                </a:moveTo>
                <a:lnTo>
                  <a:pt x="0" y="0"/>
                </a:lnTo>
                <a:lnTo>
                  <a:pt x="0" y="120571"/>
                </a:lnTo>
                <a:lnTo>
                  <a:pt x="2652557" y="120571"/>
                </a:lnTo>
                <a:lnTo>
                  <a:pt x="2652557" y="0"/>
                </a:lnTo>
                <a:close/>
              </a:path>
            </a:pathLst>
          </a:custGeom>
          <a:blipFill rotWithShape="1">
            <a:blip r:embed="rId5">
              <a:alphaModFix/>
            </a:blip>
            <a:stretch>
              <a:fillRect/>
            </a:stretch>
          </a:blipFill>
          <a:ln>
            <a:noFill/>
          </a:ln>
        </p:spPr>
        <p:txBody>
          <a:bodyPr/>
          <a:lstStyle/>
          <a:p>
            <a:endParaRPr lang="en-IN" dirty="0"/>
          </a:p>
        </p:txBody>
      </p:sp>
      <p:pic>
        <p:nvPicPr>
          <p:cNvPr id="90" name="Google Shape;90;p13"/>
          <p:cNvPicPr preferRelativeResize="0"/>
          <p:nvPr/>
        </p:nvPicPr>
        <p:blipFill>
          <a:blip r:embed="rId6">
            <a:alphaModFix/>
          </a:blip>
          <a:stretch>
            <a:fillRect/>
          </a:stretch>
        </p:blipFill>
        <p:spPr>
          <a:xfrm>
            <a:off x="5872000" y="7209997"/>
            <a:ext cx="1477575" cy="1199740"/>
          </a:xfrm>
          <a:prstGeom prst="rect">
            <a:avLst/>
          </a:prstGeom>
          <a:noFill/>
          <a:ln>
            <a:noFill/>
          </a:ln>
        </p:spPr>
      </p:pic>
      <p:pic>
        <p:nvPicPr>
          <p:cNvPr id="91" name="Google Shape;91;p13"/>
          <p:cNvPicPr preferRelativeResize="0"/>
          <p:nvPr/>
        </p:nvPicPr>
        <p:blipFill>
          <a:blip r:embed="rId7">
            <a:alphaModFix/>
          </a:blip>
          <a:stretch>
            <a:fillRect/>
          </a:stretch>
        </p:blipFill>
        <p:spPr>
          <a:xfrm>
            <a:off x="9675475" y="7145800"/>
            <a:ext cx="1499900" cy="11037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BCC8D4"/>
        </a:solidFill>
        <a:effectLst/>
      </p:bgPr>
    </p:bg>
    <p:spTree>
      <p:nvGrpSpPr>
        <p:cNvPr id="1" name="Shape 170"/>
        <p:cNvGrpSpPr/>
        <p:nvPr/>
      </p:nvGrpSpPr>
      <p:grpSpPr>
        <a:xfrm>
          <a:off x="0" y="0"/>
          <a:ext cx="0" cy="0"/>
          <a:chOff x="0" y="0"/>
          <a:chExt cx="0" cy="0"/>
        </a:xfrm>
      </p:grpSpPr>
      <p:pic>
        <p:nvPicPr>
          <p:cNvPr id="171" name="Google Shape;171;p19"/>
          <p:cNvPicPr preferRelativeResize="0"/>
          <p:nvPr/>
        </p:nvPicPr>
        <p:blipFill>
          <a:blip r:embed="rId3">
            <a:alphaModFix/>
          </a:blip>
          <a:stretch>
            <a:fillRect/>
          </a:stretch>
        </p:blipFill>
        <p:spPr>
          <a:xfrm>
            <a:off x="-27655" y="-96003"/>
            <a:ext cx="18288000" cy="13242715"/>
          </a:xfrm>
          <a:prstGeom prst="rect">
            <a:avLst/>
          </a:prstGeom>
          <a:noFill/>
          <a:ln>
            <a:noFill/>
          </a:ln>
        </p:spPr>
      </p:pic>
      <p:pic>
        <p:nvPicPr>
          <p:cNvPr id="172" name="Google Shape;172;p19"/>
          <p:cNvPicPr preferRelativeResize="0"/>
          <p:nvPr/>
        </p:nvPicPr>
        <p:blipFill>
          <a:blip r:embed="rId4">
            <a:alphaModFix/>
          </a:blip>
          <a:stretch>
            <a:fillRect/>
          </a:stretch>
        </p:blipFill>
        <p:spPr>
          <a:xfrm>
            <a:off x="496100" y="418402"/>
            <a:ext cx="17295800" cy="9450196"/>
          </a:xfrm>
          <a:prstGeom prst="rect">
            <a:avLst/>
          </a:prstGeom>
          <a:noFill/>
          <a:ln>
            <a:noFill/>
          </a:ln>
        </p:spPr>
      </p:pic>
      <p:sp>
        <p:nvSpPr>
          <p:cNvPr id="175" name="Google Shape;175;p19"/>
          <p:cNvSpPr txBox="1"/>
          <p:nvPr/>
        </p:nvSpPr>
        <p:spPr>
          <a:xfrm>
            <a:off x="2171684" y="1164908"/>
            <a:ext cx="13944632" cy="1003935"/>
          </a:xfrm>
          <a:prstGeom prst="rect">
            <a:avLst/>
          </a:prstGeom>
          <a:noFill/>
          <a:ln>
            <a:noFill/>
          </a:ln>
        </p:spPr>
        <p:txBody>
          <a:bodyPr spcFirstLastPara="1" wrap="square" lIns="0" tIns="0" rIns="0" bIns="0" anchor="t" anchorCtr="0">
            <a:spAutoFit/>
          </a:bodyPr>
          <a:lstStyle/>
          <a:p>
            <a:pPr marL="0" marR="0" lvl="0" indent="0" algn="ctr" rtl="0">
              <a:lnSpc>
                <a:spcPct val="111001"/>
              </a:lnSpc>
              <a:spcBef>
                <a:spcPts val="0"/>
              </a:spcBef>
              <a:spcAft>
                <a:spcPts val="0"/>
              </a:spcAft>
              <a:buNone/>
            </a:pPr>
            <a:r>
              <a:rPr lang="en-US" sz="6999" b="0" i="0" u="none" strike="noStrike" cap="none" dirty="0">
                <a:solidFill>
                  <a:srgbClr val="F1E894"/>
                </a:solidFill>
                <a:latin typeface="Paytone One"/>
                <a:ea typeface="Paytone One"/>
                <a:cs typeface="Paytone One"/>
                <a:sym typeface="Paytone One"/>
              </a:rPr>
              <a:t>Meet Our Team </a:t>
            </a:r>
            <a:endParaRPr dirty="0"/>
          </a:p>
        </p:txBody>
      </p:sp>
      <p:sp>
        <p:nvSpPr>
          <p:cNvPr id="181" name="Google Shape;181;p19"/>
          <p:cNvSpPr txBox="1"/>
          <p:nvPr/>
        </p:nvSpPr>
        <p:spPr>
          <a:xfrm>
            <a:off x="2375325" y="3372455"/>
            <a:ext cx="14348376" cy="5213735"/>
          </a:xfrm>
          <a:prstGeom prst="rect">
            <a:avLst/>
          </a:prstGeom>
          <a:noFill/>
          <a:ln>
            <a:noFill/>
          </a:ln>
        </p:spPr>
        <p:txBody>
          <a:bodyPr spcFirstLastPara="1" wrap="square" lIns="0" tIns="0" rIns="0" bIns="0" anchor="t" anchorCtr="0">
            <a:spAutoFit/>
          </a:bodyPr>
          <a:lstStyle/>
          <a:p>
            <a:pPr marR="0" lvl="1" rtl="0">
              <a:lnSpc>
                <a:spcPct val="140000"/>
              </a:lnSpc>
              <a:spcBef>
                <a:spcPts val="0"/>
              </a:spcBef>
              <a:spcAft>
                <a:spcPts val="0"/>
              </a:spcAft>
            </a:pPr>
            <a:r>
              <a:rPr lang="en-US" sz="2200" dirty="0">
                <a:solidFill>
                  <a:srgbClr val="FFFFFF"/>
                </a:solidFill>
                <a:latin typeface="Nunito"/>
                <a:sym typeface="Nunito"/>
              </a:rPr>
              <a:t>GROUP MEMBERS:-</a:t>
            </a:r>
          </a:p>
          <a:p>
            <a:pPr marR="0" lvl="1" rtl="0">
              <a:lnSpc>
                <a:spcPct val="140000"/>
              </a:lnSpc>
              <a:spcBef>
                <a:spcPts val="0"/>
              </a:spcBef>
              <a:spcAft>
                <a:spcPts val="0"/>
              </a:spcAft>
            </a:pPr>
            <a:r>
              <a:rPr lang="en-US" sz="2200" dirty="0">
                <a:solidFill>
                  <a:srgbClr val="FFFFFF"/>
                </a:solidFill>
                <a:latin typeface="Nunito"/>
                <a:sym typeface="Nunito"/>
              </a:rPr>
              <a:t>1)   Aswin E V</a:t>
            </a:r>
          </a:p>
          <a:p>
            <a:pPr marR="0" lvl="1" rtl="0">
              <a:lnSpc>
                <a:spcPct val="140000"/>
              </a:lnSpc>
              <a:spcBef>
                <a:spcPts val="0"/>
              </a:spcBef>
              <a:spcAft>
                <a:spcPts val="0"/>
              </a:spcAft>
            </a:pPr>
            <a:r>
              <a:rPr lang="en-US" sz="2200" dirty="0">
                <a:solidFill>
                  <a:srgbClr val="FFFFFF"/>
                </a:solidFill>
                <a:latin typeface="Nunito"/>
                <a:sym typeface="Nunito"/>
              </a:rPr>
              <a:t>2)   Sairam Podishetti</a:t>
            </a:r>
          </a:p>
          <a:p>
            <a:pPr marR="0" lvl="1" rtl="0">
              <a:lnSpc>
                <a:spcPct val="140000"/>
              </a:lnSpc>
              <a:spcBef>
                <a:spcPts val="0"/>
              </a:spcBef>
              <a:spcAft>
                <a:spcPts val="0"/>
              </a:spcAft>
            </a:pPr>
            <a:r>
              <a:rPr lang="en-US" sz="2200" dirty="0">
                <a:solidFill>
                  <a:srgbClr val="FFFFFF"/>
                </a:solidFill>
                <a:latin typeface="Nunito"/>
                <a:sym typeface="Nunito"/>
              </a:rPr>
              <a:t>3)   Roshni</a:t>
            </a:r>
          </a:p>
          <a:p>
            <a:pPr marR="0" lvl="1" rtl="0">
              <a:lnSpc>
                <a:spcPct val="140000"/>
              </a:lnSpc>
              <a:spcBef>
                <a:spcPts val="0"/>
              </a:spcBef>
              <a:spcAft>
                <a:spcPts val="0"/>
              </a:spcAft>
            </a:pPr>
            <a:r>
              <a:rPr lang="en-US" sz="2200" dirty="0">
                <a:solidFill>
                  <a:srgbClr val="FFFFFF"/>
                </a:solidFill>
                <a:latin typeface="Nunito"/>
                <a:sym typeface="Nunito"/>
              </a:rPr>
              <a:t>4)   Lohit Hoolageri</a:t>
            </a:r>
          </a:p>
          <a:p>
            <a:pPr marR="0" lvl="1" rtl="0">
              <a:lnSpc>
                <a:spcPct val="140000"/>
              </a:lnSpc>
              <a:spcBef>
                <a:spcPts val="0"/>
              </a:spcBef>
              <a:spcAft>
                <a:spcPts val="0"/>
              </a:spcAft>
            </a:pPr>
            <a:r>
              <a:rPr lang="en-US" sz="2200" dirty="0">
                <a:solidFill>
                  <a:srgbClr val="FFFFFF"/>
                </a:solidFill>
                <a:latin typeface="Nunito"/>
                <a:sym typeface="Nunito"/>
              </a:rPr>
              <a:t>5)   Samrat Jha</a:t>
            </a:r>
          </a:p>
          <a:p>
            <a:pPr marR="0" lvl="1" rtl="0">
              <a:lnSpc>
                <a:spcPct val="140000"/>
              </a:lnSpc>
              <a:spcBef>
                <a:spcPts val="0"/>
              </a:spcBef>
              <a:spcAft>
                <a:spcPts val="0"/>
              </a:spcAft>
            </a:pPr>
            <a:r>
              <a:rPr lang="en-US" sz="2200" dirty="0">
                <a:solidFill>
                  <a:srgbClr val="FFFFFF"/>
                </a:solidFill>
                <a:latin typeface="Nunito"/>
                <a:sym typeface="Nunito"/>
              </a:rPr>
              <a:t>6)   Rathna Reddy Hiregowdar</a:t>
            </a:r>
          </a:p>
          <a:p>
            <a:pPr marR="0" lvl="1" rtl="0">
              <a:lnSpc>
                <a:spcPct val="140000"/>
              </a:lnSpc>
              <a:spcBef>
                <a:spcPts val="0"/>
              </a:spcBef>
              <a:spcAft>
                <a:spcPts val="0"/>
              </a:spcAft>
            </a:pPr>
            <a:endParaRPr lang="en-US" sz="2200" dirty="0">
              <a:solidFill>
                <a:srgbClr val="FFFFFF"/>
              </a:solidFill>
              <a:latin typeface="Nunito"/>
              <a:sym typeface="Nunito"/>
            </a:endParaRPr>
          </a:p>
          <a:p>
            <a:pPr marR="0" lvl="1" rtl="0">
              <a:lnSpc>
                <a:spcPct val="140000"/>
              </a:lnSpc>
              <a:spcBef>
                <a:spcPts val="0"/>
              </a:spcBef>
              <a:spcAft>
                <a:spcPts val="0"/>
              </a:spcAft>
            </a:pPr>
            <a:r>
              <a:rPr lang="en-US" sz="2200" dirty="0">
                <a:solidFill>
                  <a:srgbClr val="FFFFFF"/>
                </a:solidFill>
                <a:latin typeface="Nunito"/>
                <a:sym typeface="Nunito"/>
              </a:rPr>
              <a:t>Mentor :- Dilavar Basha</a:t>
            </a:r>
          </a:p>
          <a:p>
            <a:pPr marR="0" lvl="1" rtl="0">
              <a:lnSpc>
                <a:spcPct val="140000"/>
              </a:lnSpc>
              <a:spcBef>
                <a:spcPts val="0"/>
              </a:spcBef>
              <a:spcAft>
                <a:spcPts val="0"/>
              </a:spcAft>
            </a:pPr>
            <a:r>
              <a:rPr lang="en-US" sz="2200" dirty="0">
                <a:solidFill>
                  <a:srgbClr val="FFFFFF"/>
                </a:solidFill>
                <a:latin typeface="Nunito"/>
                <a:sym typeface="Nunito"/>
              </a:rPr>
              <a:t>Co-Mentor :- Sunkarapelli Mounika</a:t>
            </a:r>
          </a:p>
          <a:p>
            <a:pPr marR="0" lvl="1" rtl="0">
              <a:lnSpc>
                <a:spcPct val="140000"/>
              </a:lnSpc>
              <a:spcBef>
                <a:spcPts val="0"/>
              </a:spcBef>
              <a:spcAft>
                <a:spcPts val="0"/>
              </a:spcAft>
            </a:pPr>
            <a:endParaRPr lang="en-US" sz="2200" dirty="0">
              <a:solidFill>
                <a:srgbClr val="FFFFFF"/>
              </a:solidFill>
              <a:latin typeface="Nunito"/>
              <a:sym typeface="Nunito"/>
            </a:endParaRPr>
          </a:p>
        </p:txBody>
      </p:sp>
      <p:pic>
        <p:nvPicPr>
          <p:cNvPr id="185" name="Google Shape;185;p19"/>
          <p:cNvPicPr preferRelativeResize="0"/>
          <p:nvPr/>
        </p:nvPicPr>
        <p:blipFill>
          <a:blip r:embed="rId5">
            <a:alphaModFix/>
          </a:blip>
          <a:stretch>
            <a:fillRect/>
          </a:stretch>
        </p:blipFill>
        <p:spPr>
          <a:xfrm>
            <a:off x="2375325" y="1361125"/>
            <a:ext cx="1822350" cy="1496925"/>
          </a:xfrm>
          <a:prstGeom prst="rect">
            <a:avLst/>
          </a:prstGeom>
          <a:noFill/>
          <a:ln>
            <a:noFill/>
          </a:ln>
        </p:spPr>
      </p:pic>
      <p:pic>
        <p:nvPicPr>
          <p:cNvPr id="186" name="Google Shape;186;p19"/>
          <p:cNvPicPr preferRelativeResize="0"/>
          <p:nvPr/>
        </p:nvPicPr>
        <p:blipFill>
          <a:blip r:embed="rId6">
            <a:alphaModFix/>
          </a:blip>
          <a:stretch>
            <a:fillRect/>
          </a:stretch>
        </p:blipFill>
        <p:spPr>
          <a:xfrm>
            <a:off x="13731800" y="1226024"/>
            <a:ext cx="1822350" cy="1767127"/>
          </a:xfrm>
          <a:prstGeom prst="rect">
            <a:avLst/>
          </a:prstGeom>
          <a:noFill/>
          <a:ln>
            <a:noFill/>
          </a:ln>
        </p:spPr>
      </p:pic>
      <p:pic>
        <p:nvPicPr>
          <p:cNvPr id="3" name="Picture 2">
            <a:extLst>
              <a:ext uri="{FF2B5EF4-FFF2-40B4-BE49-F238E27FC236}">
                <a16:creationId xmlns:a16="http://schemas.microsoft.com/office/drawing/2014/main" id="{C17B91D1-DAF6-6375-C0A6-104C16F9F418}"/>
              </a:ext>
            </a:extLst>
          </p:cNvPr>
          <p:cNvPicPr>
            <a:picLocks noChangeAspect="1"/>
          </p:cNvPicPr>
          <p:nvPr/>
        </p:nvPicPr>
        <p:blipFill>
          <a:blip r:embed="rId7"/>
          <a:stretch>
            <a:fillRect/>
          </a:stretch>
        </p:blipFill>
        <p:spPr>
          <a:xfrm>
            <a:off x="9549513" y="3834564"/>
            <a:ext cx="4537707" cy="261787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BCC8D4"/>
        </a:solidFill>
        <a:effectLst/>
      </p:bgPr>
    </p:bg>
    <p:spTree>
      <p:nvGrpSpPr>
        <p:cNvPr id="1" name="Shape 95"/>
        <p:cNvGrpSpPr/>
        <p:nvPr/>
      </p:nvGrpSpPr>
      <p:grpSpPr>
        <a:xfrm>
          <a:off x="0" y="0"/>
          <a:ext cx="0" cy="0"/>
          <a:chOff x="0" y="0"/>
          <a:chExt cx="0" cy="0"/>
        </a:xfrm>
      </p:grpSpPr>
      <p:pic>
        <p:nvPicPr>
          <p:cNvPr id="96" name="Google Shape;96;p14"/>
          <p:cNvPicPr preferRelativeResize="0"/>
          <p:nvPr/>
        </p:nvPicPr>
        <p:blipFill>
          <a:blip r:embed="rId3">
            <a:alphaModFix/>
          </a:blip>
          <a:stretch>
            <a:fillRect/>
          </a:stretch>
        </p:blipFill>
        <p:spPr>
          <a:xfrm>
            <a:off x="-27655" y="-96003"/>
            <a:ext cx="18288000" cy="13242715"/>
          </a:xfrm>
          <a:prstGeom prst="rect">
            <a:avLst/>
          </a:prstGeom>
          <a:noFill/>
          <a:ln>
            <a:noFill/>
          </a:ln>
        </p:spPr>
      </p:pic>
      <p:pic>
        <p:nvPicPr>
          <p:cNvPr id="97" name="Google Shape;97;p14"/>
          <p:cNvPicPr preferRelativeResize="0"/>
          <p:nvPr/>
        </p:nvPicPr>
        <p:blipFill>
          <a:blip r:embed="rId4">
            <a:alphaModFix/>
          </a:blip>
          <a:stretch>
            <a:fillRect/>
          </a:stretch>
        </p:blipFill>
        <p:spPr>
          <a:xfrm>
            <a:off x="505915" y="382159"/>
            <a:ext cx="17276170" cy="9439476"/>
          </a:xfrm>
          <a:prstGeom prst="rect">
            <a:avLst/>
          </a:prstGeom>
          <a:noFill/>
          <a:ln>
            <a:noFill/>
          </a:ln>
        </p:spPr>
      </p:pic>
      <p:sp>
        <p:nvSpPr>
          <p:cNvPr id="98" name="Google Shape;98;p14"/>
          <p:cNvSpPr txBox="1"/>
          <p:nvPr/>
        </p:nvSpPr>
        <p:spPr>
          <a:xfrm>
            <a:off x="-1619361" y="1351304"/>
            <a:ext cx="21819140" cy="1210203"/>
          </a:xfrm>
          <a:prstGeom prst="rect">
            <a:avLst/>
          </a:prstGeom>
          <a:noFill/>
          <a:ln>
            <a:noFill/>
          </a:ln>
        </p:spPr>
        <p:txBody>
          <a:bodyPr spcFirstLastPara="1" wrap="square" lIns="0" tIns="0" rIns="0" bIns="0" anchor="t" anchorCtr="0">
            <a:spAutoFit/>
          </a:bodyPr>
          <a:lstStyle/>
          <a:p>
            <a:pPr marL="0" marR="0" lvl="0" indent="0" algn="ctr" rtl="0">
              <a:lnSpc>
                <a:spcPct val="110995"/>
              </a:lnSpc>
              <a:spcBef>
                <a:spcPts val="0"/>
              </a:spcBef>
              <a:spcAft>
                <a:spcPts val="0"/>
              </a:spcAft>
              <a:buNone/>
            </a:pPr>
            <a:r>
              <a:rPr lang="en-US" sz="7085" b="0" i="0" u="none" strike="noStrike" cap="none" dirty="0">
                <a:solidFill>
                  <a:srgbClr val="F1E894"/>
                </a:solidFill>
                <a:latin typeface="Paytone One"/>
                <a:ea typeface="Paytone One"/>
                <a:cs typeface="Paytone One"/>
                <a:sym typeface="Paytone One"/>
              </a:rPr>
              <a:t>PROBLEM STATEMENT</a:t>
            </a:r>
            <a:endParaRPr dirty="0"/>
          </a:p>
        </p:txBody>
      </p:sp>
      <p:sp>
        <p:nvSpPr>
          <p:cNvPr id="100" name="Google Shape;100;p14"/>
          <p:cNvSpPr txBox="1"/>
          <p:nvPr/>
        </p:nvSpPr>
        <p:spPr>
          <a:xfrm>
            <a:off x="1147996" y="2592313"/>
            <a:ext cx="16692019" cy="1120307"/>
          </a:xfrm>
          <a:prstGeom prst="rect">
            <a:avLst/>
          </a:prstGeom>
          <a:noFill/>
          <a:ln>
            <a:noFill/>
          </a:ln>
        </p:spPr>
        <p:txBody>
          <a:bodyPr spcFirstLastPara="1" wrap="square" lIns="0" tIns="0" rIns="0" bIns="0" anchor="t" anchorCtr="0">
            <a:spAutoFit/>
          </a:bodyPr>
          <a:lstStyle/>
          <a:p>
            <a:pPr lvl="0">
              <a:lnSpc>
                <a:spcPct val="130000"/>
              </a:lnSpc>
            </a:pPr>
            <a:r>
              <a:rPr lang="en-US" sz="2800" dirty="0">
                <a:solidFill>
                  <a:schemeClr val="bg1"/>
                </a:solidFill>
              </a:rPr>
              <a:t>To accurately predict the amount of solar energy produced (power generation) based on various environmental and meteorological conditions.</a:t>
            </a:r>
            <a:endParaRPr sz="2800" dirty="0">
              <a:solidFill>
                <a:schemeClr val="bg1"/>
              </a:solidFill>
              <a:latin typeface="Nunito SemiBold" pitchFamily="2" charset="0"/>
            </a:endParaRPr>
          </a:p>
        </p:txBody>
      </p:sp>
      <p:sp>
        <p:nvSpPr>
          <p:cNvPr id="104" name="Google Shape;104;p14"/>
          <p:cNvSpPr txBox="1"/>
          <p:nvPr/>
        </p:nvSpPr>
        <p:spPr>
          <a:xfrm>
            <a:off x="1147996" y="4296651"/>
            <a:ext cx="14253929" cy="600164"/>
          </a:xfrm>
          <a:prstGeom prst="rect">
            <a:avLst/>
          </a:prstGeom>
          <a:noFill/>
          <a:ln>
            <a:noFill/>
          </a:ln>
        </p:spPr>
        <p:txBody>
          <a:bodyPr spcFirstLastPara="1" wrap="square" lIns="0" tIns="0" rIns="0" bIns="0" anchor="t" anchorCtr="0">
            <a:spAutoFit/>
          </a:bodyPr>
          <a:lstStyle/>
          <a:p>
            <a:pPr marL="0" marR="0" lvl="0" indent="0" rtl="0">
              <a:lnSpc>
                <a:spcPct val="130000"/>
              </a:lnSpc>
              <a:spcBef>
                <a:spcPts val="0"/>
              </a:spcBef>
              <a:spcAft>
                <a:spcPts val="0"/>
              </a:spcAft>
              <a:buNone/>
            </a:pPr>
            <a:r>
              <a:rPr lang="en-US" sz="3000" b="1" dirty="0">
                <a:solidFill>
                  <a:schemeClr val="bg2">
                    <a:lumMod val="60000"/>
                    <a:lumOff val="40000"/>
                  </a:schemeClr>
                </a:solidFill>
                <a:effectLst>
                  <a:outerShdw blurRad="38100" dist="38100" dir="2700000" algn="tl">
                    <a:srgbClr val="000000">
                      <a:alpha val="43137"/>
                    </a:srgbClr>
                  </a:outerShdw>
                </a:effectLst>
                <a:latin typeface="Nunito SemiBold"/>
                <a:sym typeface="Nunito SemiBold"/>
              </a:rPr>
              <a:t>Challenges in Applying machine learning to Solar Power generation Detection</a:t>
            </a:r>
            <a:endParaRPr sz="3000" b="1" dirty="0">
              <a:solidFill>
                <a:schemeClr val="bg2">
                  <a:lumMod val="60000"/>
                  <a:lumOff val="40000"/>
                </a:schemeClr>
              </a:solidFill>
              <a:effectLst>
                <a:outerShdw blurRad="38100" dist="38100" dir="2700000" algn="tl">
                  <a:srgbClr val="000000">
                    <a:alpha val="43137"/>
                  </a:srgbClr>
                </a:outerShdw>
              </a:effectLst>
            </a:endParaRPr>
          </a:p>
        </p:txBody>
      </p:sp>
      <p:pic>
        <p:nvPicPr>
          <p:cNvPr id="105" name="Google Shape;105;p14"/>
          <p:cNvPicPr preferRelativeResize="0"/>
          <p:nvPr/>
        </p:nvPicPr>
        <p:blipFill>
          <a:blip r:embed="rId5">
            <a:alphaModFix/>
          </a:blip>
          <a:stretch>
            <a:fillRect/>
          </a:stretch>
        </p:blipFill>
        <p:spPr>
          <a:xfrm>
            <a:off x="11628622" y="5480847"/>
            <a:ext cx="6269322" cy="8333274"/>
          </a:xfrm>
          <a:prstGeom prst="rect">
            <a:avLst/>
          </a:prstGeom>
          <a:noFill/>
          <a:ln>
            <a:noFill/>
          </a:ln>
        </p:spPr>
      </p:pic>
      <p:sp>
        <p:nvSpPr>
          <p:cNvPr id="6" name="Subtitle 5">
            <a:extLst>
              <a:ext uri="{FF2B5EF4-FFF2-40B4-BE49-F238E27FC236}">
                <a16:creationId xmlns:a16="http://schemas.microsoft.com/office/drawing/2014/main" id="{81EC6271-B1C6-FE7C-BEC4-FCA73240AFF4}"/>
              </a:ext>
            </a:extLst>
          </p:cNvPr>
          <p:cNvSpPr>
            <a:spLocks noGrp="1"/>
          </p:cNvSpPr>
          <p:nvPr>
            <p:ph type="subTitle" idx="1"/>
          </p:nvPr>
        </p:nvSpPr>
        <p:spPr>
          <a:xfrm>
            <a:off x="1147996" y="5480847"/>
            <a:ext cx="13453829" cy="3384878"/>
          </a:xfrm>
        </p:spPr>
        <p:txBody>
          <a:bodyPr>
            <a:normAutofit/>
          </a:bodyPr>
          <a:lstStyle/>
          <a:p>
            <a:pPr marL="482600" indent="-457200" algn="l">
              <a:buFont typeface="Arial" panose="020B0604020202020204" pitchFamily="34" charset="0"/>
              <a:buChar char="•"/>
            </a:pPr>
            <a:r>
              <a:rPr lang="en-US" sz="2800" dirty="0">
                <a:solidFill>
                  <a:schemeClr val="bg1"/>
                </a:solidFill>
              </a:rPr>
              <a:t>Handling Multicollinearity and Feature Relevance</a:t>
            </a:r>
          </a:p>
          <a:p>
            <a:pPr marL="482600" indent="-457200" algn="l">
              <a:buFont typeface="Arial" panose="020B0604020202020204" pitchFamily="34" charset="0"/>
              <a:buChar char="•"/>
            </a:pPr>
            <a:r>
              <a:rPr lang="en-IN" sz="2800" dirty="0">
                <a:solidFill>
                  <a:schemeClr val="bg1"/>
                </a:solidFill>
              </a:rPr>
              <a:t>Capturing Non-Linear Environmental Dynamics</a:t>
            </a:r>
          </a:p>
          <a:p>
            <a:pPr marL="482600" indent="-457200" algn="l">
              <a:buFont typeface="Arial" panose="020B0604020202020204" pitchFamily="34" charset="0"/>
              <a:buChar char="•"/>
            </a:pPr>
            <a:r>
              <a:rPr lang="en-US" sz="2800" dirty="0">
                <a:solidFill>
                  <a:schemeClr val="bg1"/>
                </a:solidFill>
              </a:rPr>
              <a:t>Mitigating Overfitting within Tight Timelines</a:t>
            </a:r>
            <a:endParaRPr lang="en-IN" sz="2800" dirty="0">
              <a:solidFill>
                <a:schemeClr val="bg1"/>
              </a:solidFill>
              <a:latin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BCC8D4"/>
        </a:solidFill>
        <a:effectLst/>
      </p:bgPr>
    </p:bg>
    <p:spTree>
      <p:nvGrpSpPr>
        <p:cNvPr id="1" name="Shape 109"/>
        <p:cNvGrpSpPr/>
        <p:nvPr/>
      </p:nvGrpSpPr>
      <p:grpSpPr>
        <a:xfrm>
          <a:off x="0" y="0"/>
          <a:ext cx="0" cy="0"/>
          <a:chOff x="0" y="0"/>
          <a:chExt cx="0" cy="0"/>
        </a:xfrm>
      </p:grpSpPr>
      <p:pic>
        <p:nvPicPr>
          <p:cNvPr id="110" name="Google Shape;110;p15"/>
          <p:cNvPicPr preferRelativeResize="0"/>
          <p:nvPr/>
        </p:nvPicPr>
        <p:blipFill>
          <a:blip r:embed="rId3">
            <a:alphaModFix/>
          </a:blip>
          <a:stretch>
            <a:fillRect/>
          </a:stretch>
        </p:blipFill>
        <p:spPr>
          <a:xfrm>
            <a:off x="-27655" y="-96003"/>
            <a:ext cx="18288000" cy="13242715"/>
          </a:xfrm>
          <a:prstGeom prst="rect">
            <a:avLst/>
          </a:prstGeom>
          <a:noFill/>
          <a:ln>
            <a:noFill/>
          </a:ln>
        </p:spPr>
      </p:pic>
      <p:pic>
        <p:nvPicPr>
          <p:cNvPr id="111" name="Google Shape;111;p15"/>
          <p:cNvPicPr preferRelativeResize="0"/>
          <p:nvPr/>
        </p:nvPicPr>
        <p:blipFill>
          <a:blip r:embed="rId4">
            <a:alphaModFix/>
          </a:blip>
          <a:stretch>
            <a:fillRect/>
          </a:stretch>
        </p:blipFill>
        <p:spPr>
          <a:xfrm>
            <a:off x="496100" y="368020"/>
            <a:ext cx="17295800" cy="9450201"/>
          </a:xfrm>
          <a:prstGeom prst="rect">
            <a:avLst/>
          </a:prstGeom>
          <a:noFill/>
          <a:ln>
            <a:noFill/>
          </a:ln>
        </p:spPr>
      </p:pic>
      <p:sp>
        <p:nvSpPr>
          <p:cNvPr id="112" name="Google Shape;112;p15"/>
          <p:cNvSpPr txBox="1"/>
          <p:nvPr/>
        </p:nvSpPr>
        <p:spPr>
          <a:xfrm>
            <a:off x="3206399" y="1504361"/>
            <a:ext cx="11875201" cy="1210203"/>
          </a:xfrm>
          <a:prstGeom prst="rect">
            <a:avLst/>
          </a:prstGeom>
          <a:noFill/>
          <a:ln>
            <a:noFill/>
          </a:ln>
        </p:spPr>
        <p:txBody>
          <a:bodyPr spcFirstLastPara="1" wrap="square" lIns="0" tIns="0" rIns="0" bIns="0" anchor="t" anchorCtr="0">
            <a:spAutoFit/>
          </a:bodyPr>
          <a:lstStyle/>
          <a:p>
            <a:pPr marL="0" marR="0" lvl="0" indent="0" algn="ctr" rtl="0">
              <a:lnSpc>
                <a:spcPct val="110995"/>
              </a:lnSpc>
              <a:spcBef>
                <a:spcPts val="0"/>
              </a:spcBef>
              <a:spcAft>
                <a:spcPts val="0"/>
              </a:spcAft>
              <a:buNone/>
            </a:pPr>
            <a:r>
              <a:rPr lang="en-US" sz="7085" b="0" i="0" u="none" strike="noStrike" cap="none" dirty="0">
                <a:solidFill>
                  <a:srgbClr val="F1E894"/>
                </a:solidFill>
                <a:latin typeface="Paytone One"/>
                <a:ea typeface="Paytone One"/>
                <a:cs typeface="Paytone One"/>
                <a:sym typeface="Paytone One"/>
              </a:rPr>
              <a:t>Project Objective</a:t>
            </a:r>
            <a:endParaRPr dirty="0"/>
          </a:p>
        </p:txBody>
      </p:sp>
      <p:sp>
        <p:nvSpPr>
          <p:cNvPr id="114" name="Google Shape;114;p15"/>
          <p:cNvSpPr/>
          <p:nvPr/>
        </p:nvSpPr>
        <p:spPr>
          <a:xfrm>
            <a:off x="201351" y="5788821"/>
            <a:ext cx="2060370" cy="4801709"/>
          </a:xfrm>
          <a:custGeom>
            <a:avLst/>
            <a:gdLst/>
            <a:ahLst/>
            <a:cxnLst/>
            <a:rect l="l" t="t" r="r" b="b"/>
            <a:pathLst>
              <a:path w="2060370" h="4801709" extrusionOk="0">
                <a:moveTo>
                  <a:pt x="0" y="0"/>
                </a:moveTo>
                <a:lnTo>
                  <a:pt x="2060370" y="0"/>
                </a:lnTo>
                <a:lnTo>
                  <a:pt x="2060370" y="4801709"/>
                </a:lnTo>
                <a:lnTo>
                  <a:pt x="0" y="4801709"/>
                </a:lnTo>
                <a:lnTo>
                  <a:pt x="0" y="0"/>
                </a:lnTo>
                <a:close/>
              </a:path>
            </a:pathLst>
          </a:custGeom>
          <a:blipFill rotWithShape="1">
            <a:blip r:embed="rId5">
              <a:alphaModFix/>
            </a:blip>
            <a:stretch>
              <a:fillRect/>
            </a:stretch>
          </a:blipFill>
          <a:ln>
            <a:noFill/>
          </a:ln>
        </p:spPr>
        <p:txBody>
          <a:bodyPr/>
          <a:lstStyle/>
          <a:p>
            <a:endParaRPr lang="en-IN" dirty="0"/>
          </a:p>
        </p:txBody>
      </p:sp>
      <p:sp>
        <p:nvSpPr>
          <p:cNvPr id="121" name="Google Shape;121;p15"/>
          <p:cNvSpPr txBox="1"/>
          <p:nvPr/>
        </p:nvSpPr>
        <p:spPr>
          <a:xfrm>
            <a:off x="2785476" y="3178587"/>
            <a:ext cx="13725992" cy="3961084"/>
          </a:xfrm>
          <a:prstGeom prst="rect">
            <a:avLst/>
          </a:prstGeom>
          <a:noFill/>
          <a:ln>
            <a:noFill/>
          </a:ln>
        </p:spPr>
        <p:txBody>
          <a:bodyPr spcFirstLastPara="1" wrap="square" lIns="0" tIns="0" rIns="0" bIns="0" anchor="t" anchorCtr="0">
            <a:spAutoFit/>
          </a:bodyPr>
          <a:lstStyle/>
          <a:p>
            <a:pPr marL="342900" lvl="1" indent="-342900">
              <a:lnSpc>
                <a:spcPct val="130000"/>
              </a:lnSpc>
              <a:buFont typeface="Arial" panose="020B0604020202020204" pitchFamily="34" charset="0"/>
              <a:buChar char="•"/>
            </a:pPr>
            <a:r>
              <a:rPr lang="en-US" sz="2200" dirty="0">
                <a:solidFill>
                  <a:schemeClr val="bg1"/>
                </a:solidFill>
              </a:rPr>
              <a:t>The main objective of this project is to build a regression model that predicts the continuous value of energy production (power generated) using various environmental variables. The dataset "solarpowergeneration.csv" contains 10 features and 2920 rows, with columns like distance to solar noon, temperature, wind direction, wind speed, sky cover, visibility, humidity, average wind speed, and average pressure. The target variable is power generated, measured in Joules for every 3-hour interval.</a:t>
            </a:r>
          </a:p>
          <a:p>
            <a:pPr marL="342900" lvl="1" indent="-342900">
              <a:lnSpc>
                <a:spcPct val="130000"/>
              </a:lnSpc>
              <a:buFont typeface="Arial" panose="020B0604020202020204" pitchFamily="34" charset="0"/>
              <a:buChar char="•"/>
            </a:pPr>
            <a:endParaRPr lang="en-US" sz="2200" dirty="0">
              <a:solidFill>
                <a:schemeClr val="bg1"/>
              </a:solidFill>
            </a:endParaRPr>
          </a:p>
          <a:p>
            <a:pPr marL="342900" lvl="1" indent="-342900">
              <a:lnSpc>
                <a:spcPct val="130000"/>
              </a:lnSpc>
              <a:buFont typeface="Arial" panose="020B0604020202020204" pitchFamily="34" charset="0"/>
              <a:buChar char="•"/>
            </a:pPr>
            <a:r>
              <a:rPr lang="en-US" sz="2200" dirty="0">
                <a:solidFill>
                  <a:schemeClr val="bg1"/>
                </a:solidFill>
              </a:rPr>
              <a:t>The objective is to accurately model and predict solar energy production as a function of environmental and meteorological variables, supporting efficient energy planning, grid stability, and resource optimization in solar power plant .operations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F3F3F"/>
        </a:solidFill>
        <a:effectLst/>
      </p:bgPr>
    </p:bg>
    <p:spTree>
      <p:nvGrpSpPr>
        <p:cNvPr id="1" name="Shape 129"/>
        <p:cNvGrpSpPr/>
        <p:nvPr/>
      </p:nvGrpSpPr>
      <p:grpSpPr>
        <a:xfrm>
          <a:off x="0" y="0"/>
          <a:ext cx="0" cy="0"/>
          <a:chOff x="0" y="0"/>
          <a:chExt cx="0" cy="0"/>
        </a:xfrm>
      </p:grpSpPr>
      <p:pic>
        <p:nvPicPr>
          <p:cNvPr id="130" name="Google Shape;130;p16"/>
          <p:cNvPicPr preferRelativeResize="0"/>
          <p:nvPr/>
        </p:nvPicPr>
        <p:blipFill>
          <a:blip r:embed="rId3">
            <a:alphaModFix/>
          </a:blip>
          <a:stretch>
            <a:fillRect/>
          </a:stretch>
        </p:blipFill>
        <p:spPr>
          <a:xfrm>
            <a:off x="159925" y="-1647277"/>
            <a:ext cx="18272952" cy="13214004"/>
          </a:xfrm>
          <a:prstGeom prst="rect">
            <a:avLst/>
          </a:prstGeom>
          <a:noFill/>
          <a:ln>
            <a:noFill/>
          </a:ln>
        </p:spPr>
      </p:pic>
      <p:pic>
        <p:nvPicPr>
          <p:cNvPr id="131" name="Google Shape;131;p16"/>
          <p:cNvPicPr preferRelativeResize="0"/>
          <p:nvPr/>
        </p:nvPicPr>
        <p:blipFill>
          <a:blip r:embed="rId4">
            <a:alphaModFix/>
          </a:blip>
          <a:stretch>
            <a:fillRect/>
          </a:stretch>
        </p:blipFill>
        <p:spPr>
          <a:xfrm>
            <a:off x="4457700" y="747465"/>
            <a:ext cx="9372600" cy="10287000"/>
          </a:xfrm>
          <a:prstGeom prst="rect">
            <a:avLst/>
          </a:prstGeom>
          <a:noFill/>
          <a:ln>
            <a:noFill/>
          </a:ln>
        </p:spPr>
      </p:pic>
      <p:sp>
        <p:nvSpPr>
          <p:cNvPr id="132" name="Google Shape;132;p16"/>
          <p:cNvSpPr/>
          <p:nvPr/>
        </p:nvSpPr>
        <p:spPr>
          <a:xfrm>
            <a:off x="-498385" y="5692025"/>
            <a:ext cx="3731375" cy="5143500"/>
          </a:xfrm>
          <a:custGeom>
            <a:avLst/>
            <a:gdLst/>
            <a:ahLst/>
            <a:cxnLst/>
            <a:rect l="l" t="t" r="r" b="b"/>
            <a:pathLst>
              <a:path w="3731375" h="5143500" extrusionOk="0">
                <a:moveTo>
                  <a:pt x="0" y="0"/>
                </a:moveTo>
                <a:lnTo>
                  <a:pt x="3731375" y="0"/>
                </a:lnTo>
                <a:lnTo>
                  <a:pt x="3731375" y="5143500"/>
                </a:lnTo>
                <a:lnTo>
                  <a:pt x="0" y="5143500"/>
                </a:lnTo>
                <a:lnTo>
                  <a:pt x="0" y="0"/>
                </a:lnTo>
                <a:close/>
              </a:path>
            </a:pathLst>
          </a:custGeom>
          <a:blipFill rotWithShape="1">
            <a:blip r:embed="rId5">
              <a:alphaModFix/>
            </a:blip>
            <a:stretch>
              <a:fillRect/>
            </a:stretch>
          </a:blipFill>
          <a:ln>
            <a:noFill/>
          </a:ln>
        </p:spPr>
        <p:txBody>
          <a:bodyPr/>
          <a:lstStyle/>
          <a:p>
            <a:endParaRPr lang="en-IN" dirty="0"/>
          </a:p>
        </p:txBody>
      </p:sp>
      <p:sp>
        <p:nvSpPr>
          <p:cNvPr id="133" name="Google Shape;133;p16"/>
          <p:cNvSpPr/>
          <p:nvPr/>
        </p:nvSpPr>
        <p:spPr>
          <a:xfrm>
            <a:off x="-1593165" y="1028700"/>
            <a:ext cx="5243730" cy="3498998"/>
          </a:xfrm>
          <a:custGeom>
            <a:avLst/>
            <a:gdLst/>
            <a:ahLst/>
            <a:cxnLst/>
            <a:rect l="l" t="t" r="r" b="b"/>
            <a:pathLst>
              <a:path w="5243730" h="3498998" extrusionOk="0">
                <a:moveTo>
                  <a:pt x="0" y="0"/>
                </a:moveTo>
                <a:lnTo>
                  <a:pt x="5243730" y="0"/>
                </a:lnTo>
                <a:lnTo>
                  <a:pt x="5243730" y="3498998"/>
                </a:lnTo>
                <a:lnTo>
                  <a:pt x="0" y="3498998"/>
                </a:lnTo>
                <a:lnTo>
                  <a:pt x="0" y="0"/>
                </a:lnTo>
                <a:close/>
              </a:path>
            </a:pathLst>
          </a:custGeom>
          <a:blipFill rotWithShape="1">
            <a:blip r:embed="rId6">
              <a:alphaModFix/>
            </a:blip>
            <a:stretch>
              <a:fillRect/>
            </a:stretch>
          </a:blipFill>
          <a:ln>
            <a:noFill/>
          </a:ln>
        </p:spPr>
        <p:txBody>
          <a:bodyPr/>
          <a:lstStyle/>
          <a:p>
            <a:endParaRPr lang="en-IN" dirty="0"/>
          </a:p>
        </p:txBody>
      </p:sp>
      <p:sp>
        <p:nvSpPr>
          <p:cNvPr id="134" name="Google Shape;134;p16"/>
          <p:cNvSpPr txBox="1"/>
          <p:nvPr/>
        </p:nvSpPr>
        <p:spPr>
          <a:xfrm>
            <a:off x="5527838" y="3728618"/>
            <a:ext cx="7537126" cy="2462213"/>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8000" b="0" i="0" u="none" strike="noStrike" cap="none" dirty="0">
                <a:solidFill>
                  <a:srgbClr val="FFFFFF"/>
                </a:solidFill>
                <a:latin typeface="Paytone One"/>
                <a:ea typeface="Paytone One"/>
                <a:cs typeface="Paytone One"/>
                <a:sym typeface="Paytone One"/>
              </a:rPr>
              <a:t>EDA AND DATA CLEANING</a:t>
            </a:r>
            <a:endParaRPr dirty="0"/>
          </a:p>
        </p:txBody>
      </p:sp>
      <p:sp>
        <p:nvSpPr>
          <p:cNvPr id="135" name="Google Shape;135;p16"/>
          <p:cNvSpPr txBox="1"/>
          <p:nvPr/>
        </p:nvSpPr>
        <p:spPr>
          <a:xfrm>
            <a:off x="7093500" y="1427434"/>
            <a:ext cx="4101000" cy="23904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5528" b="0" i="0" u="none" strike="noStrike" cap="none" dirty="0">
                <a:solidFill>
                  <a:srgbClr val="F1E894"/>
                </a:solidFill>
                <a:latin typeface="Paytone One"/>
                <a:ea typeface="Paytone One"/>
                <a:cs typeface="Paytone One"/>
                <a:sym typeface="Paytone One"/>
              </a:rPr>
              <a:t>01</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BCC8D4"/>
        </a:solidFill>
        <a:effectLst/>
      </p:bgPr>
    </p:bg>
    <p:spTree>
      <p:nvGrpSpPr>
        <p:cNvPr id="1" name="Shape 140"/>
        <p:cNvGrpSpPr/>
        <p:nvPr/>
      </p:nvGrpSpPr>
      <p:grpSpPr>
        <a:xfrm>
          <a:off x="0" y="0"/>
          <a:ext cx="0" cy="0"/>
          <a:chOff x="0" y="0"/>
          <a:chExt cx="0" cy="0"/>
        </a:xfrm>
      </p:grpSpPr>
      <p:pic>
        <p:nvPicPr>
          <p:cNvPr id="141" name="Google Shape;141;p17"/>
          <p:cNvPicPr preferRelativeResize="0"/>
          <p:nvPr/>
        </p:nvPicPr>
        <p:blipFill>
          <a:blip r:embed="rId3">
            <a:alphaModFix/>
          </a:blip>
          <a:stretch>
            <a:fillRect/>
          </a:stretch>
        </p:blipFill>
        <p:spPr>
          <a:xfrm>
            <a:off x="-27655" y="-96003"/>
            <a:ext cx="18288000" cy="13242715"/>
          </a:xfrm>
          <a:prstGeom prst="rect">
            <a:avLst/>
          </a:prstGeom>
          <a:noFill/>
          <a:ln>
            <a:noFill/>
          </a:ln>
        </p:spPr>
      </p:pic>
      <p:pic>
        <p:nvPicPr>
          <p:cNvPr id="142" name="Google Shape;142;p17"/>
          <p:cNvPicPr preferRelativeResize="0"/>
          <p:nvPr/>
        </p:nvPicPr>
        <p:blipFill>
          <a:blip r:embed="rId4">
            <a:alphaModFix/>
          </a:blip>
          <a:stretch>
            <a:fillRect/>
          </a:stretch>
        </p:blipFill>
        <p:spPr>
          <a:xfrm>
            <a:off x="496100" y="418402"/>
            <a:ext cx="17295800" cy="9450196"/>
          </a:xfrm>
          <a:prstGeom prst="rect">
            <a:avLst/>
          </a:prstGeom>
          <a:noFill/>
          <a:ln>
            <a:noFill/>
          </a:ln>
        </p:spPr>
      </p:pic>
      <p:sp>
        <p:nvSpPr>
          <p:cNvPr id="149" name="Google Shape;149;p17"/>
          <p:cNvSpPr txBox="1"/>
          <p:nvPr/>
        </p:nvSpPr>
        <p:spPr>
          <a:xfrm>
            <a:off x="928688" y="1127449"/>
            <a:ext cx="16530637" cy="1195584"/>
          </a:xfrm>
          <a:prstGeom prst="rect">
            <a:avLst/>
          </a:prstGeom>
          <a:noFill/>
          <a:ln>
            <a:noFill/>
          </a:ln>
        </p:spPr>
        <p:txBody>
          <a:bodyPr spcFirstLastPara="1" wrap="square" lIns="0" tIns="0" rIns="0" bIns="0" anchor="t" anchorCtr="0">
            <a:spAutoFit/>
          </a:bodyPr>
          <a:lstStyle/>
          <a:p>
            <a:pPr marL="0" marR="0" lvl="0" indent="0" rtl="0">
              <a:lnSpc>
                <a:spcPct val="111001"/>
              </a:lnSpc>
              <a:spcBef>
                <a:spcPts val="0"/>
              </a:spcBef>
              <a:spcAft>
                <a:spcPts val="0"/>
              </a:spcAft>
              <a:buNone/>
            </a:pPr>
            <a:r>
              <a:rPr lang="en-US" sz="6999" b="0" i="0" u="none" strike="noStrike" cap="none" dirty="0">
                <a:solidFill>
                  <a:srgbClr val="F1E894"/>
                </a:solidFill>
                <a:latin typeface="Paytone One"/>
                <a:ea typeface="Paytone One"/>
                <a:cs typeface="Paytone One"/>
                <a:sym typeface="Paytone One"/>
              </a:rPr>
              <a:t>Exploratory Data Analysis</a:t>
            </a:r>
            <a:endParaRPr dirty="0"/>
          </a:p>
        </p:txBody>
      </p:sp>
      <p:sp>
        <p:nvSpPr>
          <p:cNvPr id="3" name="Text Placeholder 2">
            <a:extLst>
              <a:ext uri="{FF2B5EF4-FFF2-40B4-BE49-F238E27FC236}">
                <a16:creationId xmlns:a16="http://schemas.microsoft.com/office/drawing/2014/main" id="{834B7BD9-6F42-C5CA-A277-8BECBB30EA2D}"/>
              </a:ext>
            </a:extLst>
          </p:cNvPr>
          <p:cNvSpPr>
            <a:spLocks noGrp="1"/>
          </p:cNvSpPr>
          <p:nvPr>
            <p:ph type="body" idx="1"/>
          </p:nvPr>
        </p:nvSpPr>
        <p:spPr>
          <a:xfrm>
            <a:off x="785813" y="2443162"/>
            <a:ext cx="16673511" cy="7100887"/>
          </a:xfrm>
        </p:spPr>
        <p:txBody>
          <a:bodyPr>
            <a:normAutofit/>
          </a:bodyPr>
          <a:lstStyle/>
          <a:p>
            <a:r>
              <a:rPr lang="en-US" sz="2800" b="1" dirty="0">
                <a:solidFill>
                  <a:schemeClr val="bg1"/>
                </a:solidFill>
              </a:rPr>
              <a:t>Objective</a:t>
            </a:r>
            <a:r>
              <a:rPr lang="en-US" sz="2800" dirty="0">
                <a:solidFill>
                  <a:schemeClr val="bg1"/>
                </a:solidFill>
              </a:rPr>
              <a:t> :- </a:t>
            </a:r>
            <a:r>
              <a:rPr lang="en-US" sz="2400" dirty="0">
                <a:solidFill>
                  <a:schemeClr val="bg1"/>
                </a:solidFill>
              </a:rPr>
              <a:t>Analyze dataset patterns, trends, and relationships to guide informed modeling decisions</a:t>
            </a:r>
          </a:p>
          <a:p>
            <a:endParaRPr lang="en-US" sz="2400" dirty="0">
              <a:solidFill>
                <a:schemeClr val="bg1"/>
              </a:solidFill>
            </a:endParaRPr>
          </a:p>
          <a:p>
            <a:r>
              <a:rPr lang="en-US" sz="2800" b="1" dirty="0">
                <a:solidFill>
                  <a:schemeClr val="bg1"/>
                </a:solidFill>
                <a:effectLst>
                  <a:outerShdw blurRad="38100" dist="38100" dir="2700000" algn="tl">
                    <a:srgbClr val="000000">
                      <a:alpha val="43137"/>
                    </a:srgbClr>
                  </a:outerShdw>
                </a:effectLst>
              </a:rPr>
              <a:t>Steps Taken</a:t>
            </a:r>
          </a:p>
          <a:p>
            <a:pPr marL="114300" indent="0">
              <a:buNone/>
            </a:pPr>
            <a:r>
              <a:rPr lang="en-US" sz="2400" dirty="0">
                <a:solidFill>
                  <a:schemeClr val="bg1"/>
                </a:solidFill>
              </a:rPr>
              <a:t>1)    	Imported Necessary Libraries:-</a:t>
            </a:r>
          </a:p>
          <a:p>
            <a:pPr marL="114300" indent="0">
              <a:buNone/>
            </a:pPr>
            <a:r>
              <a:rPr lang="en-US" sz="2400" dirty="0">
                <a:solidFill>
                  <a:schemeClr val="bg1"/>
                </a:solidFill>
              </a:rPr>
              <a:t>       	Pandas, NumPy -&gt; Data handling</a:t>
            </a:r>
          </a:p>
          <a:p>
            <a:pPr marL="114300" indent="0">
              <a:buNone/>
            </a:pPr>
            <a:r>
              <a:rPr lang="en-US" sz="2400" dirty="0">
                <a:solidFill>
                  <a:schemeClr val="bg1"/>
                </a:solidFill>
              </a:rPr>
              <a:t>      	 matplotlib, seaborn -&gt; visualization</a:t>
            </a:r>
            <a:endParaRPr lang="en-IN" dirty="0">
              <a:solidFill>
                <a:schemeClr val="bg1"/>
              </a:solidFill>
            </a:endParaRPr>
          </a:p>
          <a:p>
            <a:pPr marL="114300" indent="0">
              <a:buNone/>
            </a:pPr>
            <a:endParaRPr lang="en-US" sz="2400" dirty="0">
              <a:solidFill>
                <a:schemeClr val="bg1"/>
              </a:solidFill>
            </a:endParaRPr>
          </a:p>
          <a:p>
            <a:pPr marL="114300" indent="0">
              <a:buNone/>
            </a:pPr>
            <a:r>
              <a:rPr lang="en-US" sz="2400" dirty="0">
                <a:solidFill>
                  <a:schemeClr val="bg1"/>
                </a:solidFill>
              </a:rPr>
              <a:t>2)</a:t>
            </a:r>
            <a:r>
              <a:rPr lang="en-IN" sz="2800" dirty="0">
                <a:solidFill>
                  <a:schemeClr val="bg1"/>
                </a:solidFill>
              </a:rPr>
              <a:t>   	</a:t>
            </a:r>
            <a:r>
              <a:rPr lang="en-IN" sz="2400" dirty="0">
                <a:solidFill>
                  <a:schemeClr val="bg1"/>
                </a:solidFill>
              </a:rPr>
              <a:t>Explored Dataset Structure:-</a:t>
            </a:r>
          </a:p>
          <a:p>
            <a:pPr marL="114300" indent="0">
              <a:buNone/>
            </a:pPr>
            <a:r>
              <a:rPr lang="en-IN" sz="2400" dirty="0">
                <a:solidFill>
                  <a:schemeClr val="bg1"/>
                </a:solidFill>
              </a:rPr>
              <a:t>	Verified column names and confirmed shape</a:t>
            </a:r>
          </a:p>
          <a:p>
            <a:pPr marL="114300" indent="0">
              <a:buNone/>
            </a:pPr>
            <a:r>
              <a:rPr lang="en-IN" sz="2400" dirty="0">
                <a:solidFill>
                  <a:schemeClr val="bg1"/>
                </a:solidFill>
              </a:rPr>
              <a:t>	(2920 rows x 10 columns)</a:t>
            </a:r>
          </a:p>
          <a:p>
            <a:pPr marL="114300" indent="0">
              <a:buNone/>
            </a:pPr>
            <a:endParaRPr lang="en-IN" sz="2400" dirty="0">
              <a:solidFill>
                <a:schemeClr val="bg1"/>
              </a:solidFill>
            </a:endParaRPr>
          </a:p>
          <a:p>
            <a:pPr marL="114300" indent="0">
              <a:buNone/>
            </a:pPr>
            <a:r>
              <a:rPr lang="en-IN" sz="2400" dirty="0">
                <a:solidFill>
                  <a:schemeClr val="bg1"/>
                </a:solidFill>
              </a:rPr>
              <a:t>3)  	Initial Observations:-</a:t>
            </a:r>
          </a:p>
          <a:p>
            <a:r>
              <a:rPr lang="en-IN" sz="2400" dirty="0">
                <a:solidFill>
                  <a:schemeClr val="bg1"/>
                </a:solidFill>
              </a:rPr>
              <a:t>	Explored summary statistics ( mean, median, min, max, etc)</a:t>
            </a:r>
          </a:p>
          <a:p>
            <a:r>
              <a:rPr lang="en-IN" sz="2400" dirty="0">
                <a:solidFill>
                  <a:schemeClr val="bg1"/>
                </a:solidFill>
              </a:rPr>
              <a:t>	Checked for duplicate rows and found none</a:t>
            </a:r>
          </a:p>
          <a:p>
            <a:r>
              <a:rPr lang="en-IN" sz="2400" dirty="0">
                <a:solidFill>
                  <a:schemeClr val="bg1"/>
                </a:solidFill>
              </a:rPr>
              <a:t>	Verified data types of columns to understand numerical and categorical features</a:t>
            </a:r>
          </a:p>
          <a:p>
            <a:pPr marL="114300" indent="0">
              <a:buNone/>
            </a:pPr>
            <a:r>
              <a:rPr lang="en-IN" sz="2400" dirty="0">
                <a:solidFill>
                  <a:schemeClr val="bg1"/>
                </a:solidFill>
              </a:rPr>
              <a:t>	and found out there were no categorical features</a:t>
            </a:r>
          </a:p>
          <a:p>
            <a:pPr marL="114300" indent="0">
              <a:buNone/>
            </a:pPr>
            <a:endParaRPr lang="en-US" sz="2400" dirty="0">
              <a:solidFill>
                <a:schemeClr val="bg1"/>
              </a:solidFill>
            </a:endParaRPr>
          </a:p>
        </p:txBody>
      </p:sp>
      <p:pic>
        <p:nvPicPr>
          <p:cNvPr id="6" name="Picture 5">
            <a:extLst>
              <a:ext uri="{FF2B5EF4-FFF2-40B4-BE49-F238E27FC236}">
                <a16:creationId xmlns:a16="http://schemas.microsoft.com/office/drawing/2014/main" id="{994197EE-700B-80C4-7ECD-5F9716900134}"/>
              </a:ext>
            </a:extLst>
          </p:cNvPr>
          <p:cNvPicPr>
            <a:picLocks noChangeAspect="1"/>
          </p:cNvPicPr>
          <p:nvPr/>
        </p:nvPicPr>
        <p:blipFill>
          <a:blip r:embed="rId5"/>
          <a:stretch>
            <a:fillRect/>
          </a:stretch>
        </p:blipFill>
        <p:spPr>
          <a:xfrm>
            <a:off x="12110308" y="6357434"/>
            <a:ext cx="5220429" cy="3186615"/>
          </a:xfrm>
          <a:prstGeom prst="rect">
            <a:avLst/>
          </a:prstGeom>
        </p:spPr>
      </p:pic>
      <p:pic>
        <p:nvPicPr>
          <p:cNvPr id="8" name="Picture 7">
            <a:extLst>
              <a:ext uri="{FF2B5EF4-FFF2-40B4-BE49-F238E27FC236}">
                <a16:creationId xmlns:a16="http://schemas.microsoft.com/office/drawing/2014/main" id="{C0C3B978-7237-B130-9C0E-E9F7F69365D3}"/>
              </a:ext>
            </a:extLst>
          </p:cNvPr>
          <p:cNvPicPr>
            <a:picLocks noChangeAspect="1"/>
          </p:cNvPicPr>
          <p:nvPr/>
        </p:nvPicPr>
        <p:blipFill>
          <a:blip r:embed="rId6"/>
          <a:stretch>
            <a:fillRect/>
          </a:stretch>
        </p:blipFill>
        <p:spPr>
          <a:xfrm>
            <a:off x="6958013" y="3278601"/>
            <a:ext cx="10372724" cy="271500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BCC8D4"/>
        </a:solidFill>
        <a:effectLst/>
      </p:bgPr>
    </p:bg>
    <p:spTree>
      <p:nvGrpSpPr>
        <p:cNvPr id="1" name="Shape 154"/>
        <p:cNvGrpSpPr/>
        <p:nvPr/>
      </p:nvGrpSpPr>
      <p:grpSpPr>
        <a:xfrm>
          <a:off x="0" y="0"/>
          <a:ext cx="0" cy="0"/>
          <a:chOff x="0" y="0"/>
          <a:chExt cx="0" cy="0"/>
        </a:xfrm>
      </p:grpSpPr>
      <p:pic>
        <p:nvPicPr>
          <p:cNvPr id="155" name="Google Shape;155;p18"/>
          <p:cNvPicPr preferRelativeResize="0"/>
          <p:nvPr/>
        </p:nvPicPr>
        <p:blipFill>
          <a:blip r:embed="rId3">
            <a:alphaModFix/>
          </a:blip>
          <a:stretch>
            <a:fillRect/>
          </a:stretch>
        </p:blipFill>
        <p:spPr>
          <a:xfrm>
            <a:off x="-27655" y="-96003"/>
            <a:ext cx="18288000" cy="13242715"/>
          </a:xfrm>
          <a:prstGeom prst="rect">
            <a:avLst/>
          </a:prstGeom>
          <a:noFill/>
          <a:ln>
            <a:noFill/>
          </a:ln>
        </p:spPr>
      </p:pic>
      <p:pic>
        <p:nvPicPr>
          <p:cNvPr id="156" name="Google Shape;156;p18"/>
          <p:cNvPicPr preferRelativeResize="0"/>
          <p:nvPr/>
        </p:nvPicPr>
        <p:blipFill>
          <a:blip r:embed="rId4">
            <a:alphaModFix/>
          </a:blip>
          <a:stretch>
            <a:fillRect/>
          </a:stretch>
        </p:blipFill>
        <p:spPr>
          <a:xfrm>
            <a:off x="496100" y="418402"/>
            <a:ext cx="17295800" cy="9450196"/>
          </a:xfrm>
          <a:prstGeom prst="rect">
            <a:avLst/>
          </a:prstGeom>
          <a:noFill/>
          <a:ln>
            <a:noFill/>
          </a:ln>
        </p:spPr>
      </p:pic>
      <p:sp>
        <p:nvSpPr>
          <p:cNvPr id="165" name="Google Shape;165;p18"/>
          <p:cNvSpPr txBox="1"/>
          <p:nvPr/>
        </p:nvSpPr>
        <p:spPr>
          <a:xfrm>
            <a:off x="900112" y="1214183"/>
            <a:ext cx="13334561" cy="4136517"/>
          </a:xfrm>
          <a:prstGeom prst="rect">
            <a:avLst/>
          </a:prstGeom>
          <a:noFill/>
          <a:ln>
            <a:noFill/>
          </a:ln>
        </p:spPr>
        <p:txBody>
          <a:bodyPr spcFirstLastPara="1" wrap="square" lIns="0" tIns="0" rIns="0" bIns="0" anchor="t" anchorCtr="0">
            <a:spAutoFit/>
          </a:bodyPr>
          <a:lstStyle/>
          <a:p>
            <a:pPr marL="342900" marR="0" lvl="1" indent="-342900" rtl="0">
              <a:lnSpc>
                <a:spcPct val="140000"/>
              </a:lnSpc>
              <a:spcBef>
                <a:spcPts val="0"/>
              </a:spcBef>
              <a:spcAft>
                <a:spcPts val="0"/>
              </a:spcAft>
              <a:buFont typeface="Arial" panose="020B0604020202020204" pitchFamily="34" charset="0"/>
              <a:buChar char="•"/>
            </a:pPr>
            <a:r>
              <a:rPr lang="en-US" sz="2400" dirty="0">
                <a:solidFill>
                  <a:srgbClr val="FFFFFF"/>
                </a:solidFill>
                <a:latin typeface="Calibri" panose="020F0502020204030204" pitchFamily="34" charset="0"/>
                <a:ea typeface="Calibri" panose="020F0502020204030204" pitchFamily="34" charset="0"/>
                <a:cs typeface="Calibri" panose="020F0502020204030204" pitchFamily="34" charset="0"/>
                <a:sym typeface="Nunito"/>
              </a:rPr>
              <a:t>	Checked for missing values and found 1 missing value in average-wind-speed(period) column. </a:t>
            </a:r>
          </a:p>
          <a:p>
            <a:pPr marL="342900" marR="0" lvl="1" indent="-342900" rtl="0">
              <a:lnSpc>
                <a:spcPct val="140000"/>
              </a:lnSpc>
              <a:spcBef>
                <a:spcPts val="0"/>
              </a:spcBef>
              <a:spcAft>
                <a:spcPts val="0"/>
              </a:spcAft>
              <a:buFont typeface="Arial" panose="020B0604020202020204" pitchFamily="34" charset="0"/>
              <a:buChar char="•"/>
            </a:pPr>
            <a:endParaRPr lang="en-US" sz="2400" dirty="0">
              <a:solidFill>
                <a:srgbClr val="FFFFFF"/>
              </a:solidFill>
              <a:latin typeface="Calibri" panose="020F0502020204030204" pitchFamily="34" charset="0"/>
              <a:ea typeface="Calibri" panose="020F0502020204030204" pitchFamily="34" charset="0"/>
              <a:cs typeface="Calibri" panose="020F0502020204030204" pitchFamily="34" charset="0"/>
              <a:sym typeface="Nunito"/>
            </a:endParaRPr>
          </a:p>
          <a:p>
            <a:pPr marL="0" marR="0" lvl="1" indent="0" rtl="0">
              <a:lnSpc>
                <a:spcPct val="140000"/>
              </a:lnSpc>
              <a:spcBef>
                <a:spcPts val="0"/>
              </a:spcBef>
              <a:spcAft>
                <a:spcPts val="0"/>
              </a:spcAft>
              <a:buNone/>
            </a:pPr>
            <a:r>
              <a:rPr lang="en-US" sz="2400" dirty="0">
                <a:solidFill>
                  <a:srgbClr val="FFFFFF"/>
                </a:solidFill>
                <a:latin typeface="Calibri" panose="020F0502020204030204" pitchFamily="34" charset="0"/>
                <a:ea typeface="Calibri" panose="020F0502020204030204" pitchFamily="34" charset="0"/>
                <a:cs typeface="Calibri" panose="020F0502020204030204" pitchFamily="34" charset="0"/>
                <a:sym typeface="Nunito"/>
              </a:rPr>
              <a:t>4) 	Visual Insights from EDA</a:t>
            </a: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sym typeface="Nunito"/>
              </a:rPr>
              <a:t>:-</a:t>
            </a:r>
          </a:p>
          <a:p>
            <a:pPr marL="342900" marR="0" lvl="1" indent="-342900" rtl="0">
              <a:lnSpc>
                <a:spcPct val="140000"/>
              </a:lnSpc>
              <a:spcBef>
                <a:spcPts val="0"/>
              </a:spcBef>
              <a:spcAft>
                <a:spcPts val="0"/>
              </a:spcAft>
              <a:buFont typeface="Arial" panose="020B0604020202020204" pitchFamily="34" charset="0"/>
              <a:buChar cha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sym typeface="Nunito"/>
              </a:rPr>
              <a:t>	Histogram for all features were generated along with kde plot to observe how each feature helps </a:t>
            </a:r>
          </a:p>
          <a:p>
            <a:pPr marL="0" marR="0" lvl="1" indent="0" rtl="0">
              <a:lnSpc>
                <a:spcPct val="140000"/>
              </a:lnSpc>
              <a:spcBef>
                <a:spcPts val="0"/>
              </a:spcBef>
              <a:spcAft>
                <a:spcPts val="0"/>
              </a:spcAft>
              <a:buNone/>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sym typeface="Nunito"/>
              </a:rPr>
              <a:t>	in determining the power generated.</a:t>
            </a:r>
          </a:p>
          <a:p>
            <a:pPr marL="342900" lvl="3" indent="-342900">
              <a:lnSpc>
                <a:spcPct val="140000"/>
              </a:lnSpc>
              <a:buFont typeface="Arial" panose="020B0604020202020204" pitchFamily="34" charset="0"/>
              <a:buChar cha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sym typeface="Nunito"/>
              </a:rPr>
              <a:t>        	Identified outliers in most of the columns (wind-direction, wind-speed, visibility, etc using box plot </a:t>
            </a:r>
          </a:p>
          <a:p>
            <a:pPr marL="0" marR="0" lvl="1" indent="0" rtl="0">
              <a:lnSpc>
                <a:spcPct val="140000"/>
              </a:lnSpc>
              <a:spcBef>
                <a:spcPts val="0"/>
              </a:spcBef>
              <a:spcAft>
                <a:spcPts val="0"/>
              </a:spcAft>
              <a:buNone/>
            </a:pPr>
            <a:endPar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sym typeface="Nunito"/>
            </a:endParaRPr>
          </a:p>
          <a:p>
            <a:pPr marL="0" marR="0" lvl="1" indent="0" rtl="0">
              <a:lnSpc>
                <a:spcPct val="140000"/>
              </a:lnSpc>
              <a:spcBef>
                <a:spcPts val="0"/>
              </a:spcBef>
              <a:spcAft>
                <a:spcPts val="0"/>
              </a:spcAft>
              <a:buNone/>
            </a:pPr>
            <a:r>
              <a:rPr lang="en-US" sz="2400" dirty="0">
                <a:solidFill>
                  <a:srgbClr val="FFFFFF"/>
                </a:solidFill>
                <a:latin typeface="Calibri" panose="020F0502020204030204" pitchFamily="34" charset="0"/>
                <a:ea typeface="Calibri" panose="020F0502020204030204" pitchFamily="34" charset="0"/>
                <a:cs typeface="Calibri" panose="020F0502020204030204" pitchFamily="34" charset="0"/>
                <a:sym typeface="Nunito"/>
              </a:rPr>
              <a:t>	</a:t>
            </a:r>
          </a:p>
        </p:txBody>
      </p:sp>
      <p:pic>
        <p:nvPicPr>
          <p:cNvPr id="3" name="Picture 2">
            <a:extLst>
              <a:ext uri="{FF2B5EF4-FFF2-40B4-BE49-F238E27FC236}">
                <a16:creationId xmlns:a16="http://schemas.microsoft.com/office/drawing/2014/main" id="{0DF83DE3-D8C6-84B9-A14E-C4055C51A813}"/>
              </a:ext>
            </a:extLst>
          </p:cNvPr>
          <p:cNvPicPr>
            <a:picLocks noChangeAspect="1"/>
          </p:cNvPicPr>
          <p:nvPr/>
        </p:nvPicPr>
        <p:blipFill>
          <a:blip r:embed="rId5"/>
          <a:stretch>
            <a:fillRect/>
          </a:stretch>
        </p:blipFill>
        <p:spPr>
          <a:xfrm>
            <a:off x="14234673" y="1016117"/>
            <a:ext cx="3153215" cy="2981741"/>
          </a:xfrm>
          <a:prstGeom prst="rect">
            <a:avLst/>
          </a:prstGeom>
        </p:spPr>
      </p:pic>
      <p:pic>
        <p:nvPicPr>
          <p:cNvPr id="5" name="Picture 4">
            <a:extLst>
              <a:ext uri="{FF2B5EF4-FFF2-40B4-BE49-F238E27FC236}">
                <a16:creationId xmlns:a16="http://schemas.microsoft.com/office/drawing/2014/main" id="{3B468925-A619-B553-41FB-992B8437BE59}"/>
              </a:ext>
            </a:extLst>
          </p:cNvPr>
          <p:cNvPicPr>
            <a:picLocks noChangeAspect="1"/>
          </p:cNvPicPr>
          <p:nvPr/>
        </p:nvPicPr>
        <p:blipFill>
          <a:blip r:embed="rId6"/>
          <a:stretch>
            <a:fillRect/>
          </a:stretch>
        </p:blipFill>
        <p:spPr>
          <a:xfrm>
            <a:off x="1845669" y="5329237"/>
            <a:ext cx="7629526" cy="3886200"/>
          </a:xfrm>
          <a:prstGeom prst="rect">
            <a:avLst/>
          </a:prstGeom>
        </p:spPr>
      </p:pic>
      <p:pic>
        <p:nvPicPr>
          <p:cNvPr id="7" name="Picture 6">
            <a:extLst>
              <a:ext uri="{FF2B5EF4-FFF2-40B4-BE49-F238E27FC236}">
                <a16:creationId xmlns:a16="http://schemas.microsoft.com/office/drawing/2014/main" id="{101FF934-4C29-C18B-CB29-E3B65324B9A9}"/>
              </a:ext>
            </a:extLst>
          </p:cNvPr>
          <p:cNvPicPr>
            <a:picLocks noChangeAspect="1"/>
          </p:cNvPicPr>
          <p:nvPr/>
        </p:nvPicPr>
        <p:blipFill>
          <a:blip r:embed="rId7"/>
          <a:stretch>
            <a:fillRect/>
          </a:stretch>
        </p:blipFill>
        <p:spPr>
          <a:xfrm>
            <a:off x="10171458" y="5143500"/>
            <a:ext cx="6443663" cy="3886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BCC8D4"/>
        </a:solidFill>
        <a:effectLst/>
      </p:bgPr>
    </p:bg>
    <p:spTree>
      <p:nvGrpSpPr>
        <p:cNvPr id="1" name="Shape 192"/>
        <p:cNvGrpSpPr/>
        <p:nvPr/>
      </p:nvGrpSpPr>
      <p:grpSpPr>
        <a:xfrm>
          <a:off x="0" y="0"/>
          <a:ext cx="0" cy="0"/>
          <a:chOff x="0" y="0"/>
          <a:chExt cx="0" cy="0"/>
        </a:xfrm>
      </p:grpSpPr>
      <p:pic>
        <p:nvPicPr>
          <p:cNvPr id="193" name="Google Shape;193;p20"/>
          <p:cNvPicPr preferRelativeResize="0"/>
          <p:nvPr/>
        </p:nvPicPr>
        <p:blipFill>
          <a:blip r:embed="rId3">
            <a:alphaModFix/>
          </a:blip>
          <a:stretch>
            <a:fillRect/>
          </a:stretch>
        </p:blipFill>
        <p:spPr>
          <a:xfrm>
            <a:off x="-27655" y="-96003"/>
            <a:ext cx="18288000" cy="13242715"/>
          </a:xfrm>
          <a:prstGeom prst="rect">
            <a:avLst/>
          </a:prstGeom>
          <a:noFill/>
          <a:ln>
            <a:noFill/>
          </a:ln>
        </p:spPr>
      </p:pic>
      <p:pic>
        <p:nvPicPr>
          <p:cNvPr id="194" name="Google Shape;194;p20"/>
          <p:cNvPicPr preferRelativeResize="0"/>
          <p:nvPr/>
        </p:nvPicPr>
        <p:blipFill>
          <a:blip r:embed="rId4">
            <a:alphaModFix/>
          </a:blip>
          <a:stretch>
            <a:fillRect/>
          </a:stretch>
        </p:blipFill>
        <p:spPr>
          <a:xfrm>
            <a:off x="496100" y="418402"/>
            <a:ext cx="17295800" cy="9450196"/>
          </a:xfrm>
          <a:prstGeom prst="rect">
            <a:avLst/>
          </a:prstGeom>
          <a:noFill/>
          <a:ln>
            <a:noFill/>
          </a:ln>
        </p:spPr>
      </p:pic>
      <p:sp>
        <p:nvSpPr>
          <p:cNvPr id="201" name="Google Shape;201;p20"/>
          <p:cNvSpPr txBox="1"/>
          <p:nvPr/>
        </p:nvSpPr>
        <p:spPr>
          <a:xfrm>
            <a:off x="1503206" y="1544333"/>
            <a:ext cx="14141607" cy="6204776"/>
          </a:xfrm>
          <a:prstGeom prst="rect">
            <a:avLst/>
          </a:prstGeom>
          <a:noFill/>
          <a:ln>
            <a:noFill/>
          </a:ln>
        </p:spPr>
        <p:txBody>
          <a:bodyPr spcFirstLastPara="1" wrap="square" lIns="0" tIns="0" rIns="0" bIns="0" anchor="t" anchorCtr="0">
            <a:spAutoFit/>
          </a:bodyPr>
          <a:lstStyle/>
          <a:p>
            <a:pPr marL="0" marR="0" lvl="1" indent="0" rtl="0">
              <a:lnSpc>
                <a:spcPct val="140000"/>
              </a:lnSpc>
              <a:spcBef>
                <a:spcPts val="0"/>
              </a:spcBef>
              <a:spcAft>
                <a:spcPts val="0"/>
              </a:spcAft>
              <a:buNone/>
            </a:pPr>
            <a:r>
              <a:rPr lang="en-US" sz="2400" dirty="0">
                <a:solidFill>
                  <a:srgbClr val="FFFFFF"/>
                </a:solidFill>
                <a:latin typeface="Calibri" panose="020F0502020204030204" pitchFamily="34" charset="0"/>
                <a:ea typeface="Calibri" panose="020F0502020204030204" pitchFamily="34" charset="0"/>
                <a:cs typeface="Calibri" panose="020F0502020204030204" pitchFamily="34" charset="0"/>
                <a:sym typeface="Nunito"/>
              </a:rPr>
              <a:t>We have also plotted a heatmap to show the correlation of every features and here are the observations we found:-</a:t>
            </a:r>
          </a:p>
          <a:p>
            <a:pPr marL="0" marR="0" lvl="1" indent="0" rtl="0">
              <a:lnSpc>
                <a:spcPct val="140000"/>
              </a:lnSpc>
              <a:spcBef>
                <a:spcPts val="0"/>
              </a:spcBef>
              <a:spcAft>
                <a:spcPts val="0"/>
              </a:spcAft>
              <a:buNone/>
            </a:pPr>
            <a:endParaRPr lang="en-US" sz="2400" dirty="0">
              <a:solidFill>
                <a:srgbClr val="FFFFFF"/>
              </a:solidFill>
              <a:latin typeface="Calibri" panose="020F0502020204030204" pitchFamily="34" charset="0"/>
              <a:ea typeface="Calibri" panose="020F0502020204030204" pitchFamily="34" charset="0"/>
              <a:cs typeface="Calibri" panose="020F0502020204030204" pitchFamily="34" charset="0"/>
              <a:sym typeface="Nunito"/>
            </a:endParaRPr>
          </a:p>
          <a:p>
            <a:pPr marL="342900" lvl="1" indent="-342900">
              <a:lnSpc>
                <a:spcPct val="140000"/>
              </a:lnSpc>
              <a:buClr>
                <a:schemeClr val="bg1"/>
              </a:buClr>
              <a:buFont typeface="Wingdings" panose="05000000000000000000" pitchFamily="2" charset="2"/>
              <a:buChar char="Ø"/>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The most significant insight is that </a:t>
            </a:r>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geometric and atmospheric obstructions to light</a:t>
            </a: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are the primary drivers of power generation, far outweighing wind or pressure.</a:t>
            </a:r>
          </a:p>
          <a:p>
            <a:pPr marL="342900" lvl="1" indent="-342900">
              <a:lnSpc>
                <a:spcPct val="140000"/>
              </a:lnSpc>
              <a:buClr>
                <a:schemeClr val="bg1"/>
              </a:buClr>
              <a:buFont typeface="Wingdings" panose="05000000000000000000" pitchFamily="2" charset="2"/>
              <a:buChar char="Ø"/>
            </a:pPr>
            <a:endPar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342900" lvl="1" indent="-342900">
              <a:lnSpc>
                <a:spcPct val="140000"/>
              </a:lnSpc>
              <a:buClr>
                <a:schemeClr val="bg1"/>
              </a:buClr>
              <a:buFont typeface="Wingdings" panose="05000000000000000000" pitchFamily="2" charset="2"/>
              <a:buChar char="Ø"/>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Through your VIF (Variance Inflation Factor) analysis and </a:t>
            </a:r>
          </a:p>
          <a:p>
            <a:pPr lvl="1">
              <a:lnSpc>
                <a:spcPct val="140000"/>
              </a:lnSpc>
              <a:buClr>
                <a:schemeClr val="bg1"/>
              </a:buCl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correlation heatmaps, you identified that not all atmospheric </a:t>
            </a:r>
          </a:p>
          <a:p>
            <a:pPr lvl="1">
              <a:lnSpc>
                <a:spcPct val="140000"/>
              </a:lnSpc>
              <a:buClr>
                <a:schemeClr val="bg1"/>
              </a:buCl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data adds value.</a:t>
            </a:r>
          </a:p>
          <a:p>
            <a:pPr marL="342900" lvl="1" indent="-342900">
              <a:lnSpc>
                <a:spcPct val="140000"/>
              </a:lnSpc>
              <a:buClr>
                <a:schemeClr val="bg1"/>
              </a:buClr>
              <a:buFont typeface="Wingdings" panose="05000000000000000000" pitchFamily="2" charset="2"/>
              <a:buChar char="Ø"/>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You found that visibility had high multicollinearity with other </a:t>
            </a:r>
          </a:p>
          <a:p>
            <a:pPr lvl="1">
              <a:lnSpc>
                <a:spcPct val="140000"/>
              </a:lnSpc>
              <a:buClr>
                <a:schemeClr val="bg1"/>
              </a:buCl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features and a low unique relationship with power-generated</a:t>
            </a:r>
          </a:p>
          <a:p>
            <a:pPr lvl="1">
              <a:lnSpc>
                <a:spcPct val="140000"/>
              </a:lnSpc>
              <a:buClr>
                <a:schemeClr val="bg1"/>
              </a:buClr>
            </a:pPr>
            <a:endPar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229199AE-1A94-F278-B741-10D0A67856EC}"/>
              </a:ext>
            </a:extLst>
          </p:cNvPr>
          <p:cNvPicPr>
            <a:picLocks noChangeAspect="1"/>
          </p:cNvPicPr>
          <p:nvPr/>
        </p:nvPicPr>
        <p:blipFill>
          <a:blip r:embed="rId5"/>
          <a:stretch>
            <a:fillRect/>
          </a:stretch>
        </p:blipFill>
        <p:spPr>
          <a:xfrm>
            <a:off x="10258426" y="4529333"/>
            <a:ext cx="5929756" cy="399204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oogle Shape;155;p18">
            <a:extLst>
              <a:ext uri="{FF2B5EF4-FFF2-40B4-BE49-F238E27FC236}">
                <a16:creationId xmlns:a16="http://schemas.microsoft.com/office/drawing/2014/main" id="{E056D294-C8D4-4141-24C3-5E77D0A99258}"/>
              </a:ext>
            </a:extLst>
          </p:cNvPr>
          <p:cNvPicPr preferRelativeResize="0"/>
          <p:nvPr/>
        </p:nvPicPr>
        <p:blipFill>
          <a:blip r:embed="rId2">
            <a:alphaModFix/>
          </a:blip>
          <a:stretch>
            <a:fillRect/>
          </a:stretch>
        </p:blipFill>
        <p:spPr>
          <a:xfrm>
            <a:off x="0" y="0"/>
            <a:ext cx="18288000" cy="13242715"/>
          </a:xfrm>
          <a:prstGeom prst="rect">
            <a:avLst/>
          </a:prstGeom>
          <a:noFill/>
          <a:ln>
            <a:noFill/>
          </a:ln>
        </p:spPr>
      </p:pic>
      <p:pic>
        <p:nvPicPr>
          <p:cNvPr id="4" name="Google Shape;194;p20">
            <a:extLst>
              <a:ext uri="{FF2B5EF4-FFF2-40B4-BE49-F238E27FC236}">
                <a16:creationId xmlns:a16="http://schemas.microsoft.com/office/drawing/2014/main" id="{481DE281-D079-A28F-C435-A0FE65979AE9}"/>
              </a:ext>
            </a:extLst>
          </p:cNvPr>
          <p:cNvPicPr preferRelativeResize="0"/>
          <p:nvPr/>
        </p:nvPicPr>
        <p:blipFill>
          <a:blip r:embed="rId3">
            <a:alphaModFix/>
          </a:blip>
          <a:stretch>
            <a:fillRect/>
          </a:stretch>
        </p:blipFill>
        <p:spPr>
          <a:xfrm>
            <a:off x="496100" y="418402"/>
            <a:ext cx="17295800" cy="9450196"/>
          </a:xfrm>
          <a:prstGeom prst="rect">
            <a:avLst/>
          </a:prstGeom>
          <a:noFill/>
          <a:ln>
            <a:noFill/>
          </a:ln>
        </p:spPr>
      </p:pic>
      <p:sp>
        <p:nvSpPr>
          <p:cNvPr id="6" name="Google Shape;149;p17">
            <a:extLst>
              <a:ext uri="{FF2B5EF4-FFF2-40B4-BE49-F238E27FC236}">
                <a16:creationId xmlns:a16="http://schemas.microsoft.com/office/drawing/2014/main" id="{941A886E-E6A0-D776-21D4-601791806FEF}"/>
              </a:ext>
            </a:extLst>
          </p:cNvPr>
          <p:cNvSpPr txBox="1"/>
          <p:nvPr/>
        </p:nvSpPr>
        <p:spPr>
          <a:xfrm>
            <a:off x="1071563" y="1127299"/>
            <a:ext cx="16530637" cy="1434752"/>
          </a:xfrm>
          <a:prstGeom prst="rect">
            <a:avLst/>
          </a:prstGeom>
          <a:noFill/>
          <a:ln>
            <a:noFill/>
          </a:ln>
        </p:spPr>
        <p:txBody>
          <a:bodyPr spcFirstLastPara="1" wrap="square" lIns="0" tIns="0" rIns="0" bIns="0" anchor="t" anchorCtr="0">
            <a:spAutoFit/>
          </a:bodyPr>
          <a:lstStyle/>
          <a:p>
            <a:pPr marL="0" marR="0" lvl="0" indent="0" rtl="0">
              <a:lnSpc>
                <a:spcPct val="111001"/>
              </a:lnSpc>
              <a:spcBef>
                <a:spcPts val="0"/>
              </a:spcBef>
              <a:spcAft>
                <a:spcPts val="0"/>
              </a:spcAft>
              <a:buNone/>
            </a:pPr>
            <a:r>
              <a:rPr lang="en-US" sz="6999" dirty="0">
                <a:solidFill>
                  <a:srgbClr val="F1E894"/>
                </a:solidFill>
                <a:latin typeface="Paytone One"/>
                <a:sym typeface="Paytone One"/>
              </a:rPr>
              <a:t>DATA CLEANING &amp; PREPROCESSING</a:t>
            </a:r>
            <a:endParaRPr lang="en-US" sz="2800" dirty="0">
              <a:solidFill>
                <a:schemeClr val="bg1"/>
              </a:solidFill>
              <a:latin typeface="Calibri" panose="020F0502020204030204" pitchFamily="34" charset="0"/>
              <a:ea typeface="Calibri" panose="020F0502020204030204" pitchFamily="34" charset="0"/>
              <a:cs typeface="Calibri" panose="020F0502020204030204" pitchFamily="34" charset="0"/>
              <a:sym typeface="Paytone One"/>
            </a:endParaRPr>
          </a:p>
          <a:p>
            <a:pPr marL="0" marR="0" lvl="0" indent="0" rtl="0">
              <a:lnSpc>
                <a:spcPct val="111001"/>
              </a:lnSpc>
              <a:spcBef>
                <a:spcPts val="0"/>
              </a:spcBef>
              <a:spcAft>
                <a:spcPts val="0"/>
              </a:spcAft>
              <a:buNone/>
            </a:pPr>
            <a:endParaRPr dirty="0"/>
          </a:p>
        </p:txBody>
      </p:sp>
      <p:sp>
        <p:nvSpPr>
          <p:cNvPr id="23" name="Text Placeholder 22">
            <a:extLst>
              <a:ext uri="{FF2B5EF4-FFF2-40B4-BE49-F238E27FC236}">
                <a16:creationId xmlns:a16="http://schemas.microsoft.com/office/drawing/2014/main" id="{3825CE32-5A6F-6752-50CE-4480849D6C43}"/>
              </a:ext>
            </a:extLst>
          </p:cNvPr>
          <p:cNvSpPr>
            <a:spLocks noGrp="1"/>
          </p:cNvSpPr>
          <p:nvPr>
            <p:ph type="body" idx="1"/>
          </p:nvPr>
        </p:nvSpPr>
        <p:spPr>
          <a:xfrm>
            <a:off x="885825" y="2562052"/>
            <a:ext cx="16530637" cy="6810548"/>
          </a:xfrm>
        </p:spPr>
        <p:txBody>
          <a:bodyPr>
            <a:normAutofit/>
          </a:bodyPr>
          <a:lstStyle/>
          <a:p>
            <a:pPr>
              <a:buClr>
                <a:schemeClr val="bg1"/>
              </a:buClr>
            </a:pPr>
            <a:r>
              <a:rPr lang="en-IN" sz="2800" dirty="0">
                <a:solidFill>
                  <a:schemeClr val="bg1"/>
                </a:solidFill>
              </a:rPr>
              <a:t>Objective :- </a:t>
            </a:r>
            <a:r>
              <a:rPr lang="en-IN" sz="2400" dirty="0">
                <a:solidFill>
                  <a:schemeClr val="bg1"/>
                </a:solidFill>
              </a:rPr>
              <a:t>To ensure the dataset is accurate, complete and ready for machine learning models</a:t>
            </a:r>
          </a:p>
          <a:p>
            <a:pPr marL="114300" indent="0">
              <a:buClr>
                <a:schemeClr val="bg1"/>
              </a:buClr>
              <a:buNone/>
            </a:pPr>
            <a:endParaRPr lang="en-IN" sz="2400" dirty="0">
              <a:solidFill>
                <a:schemeClr val="bg1"/>
              </a:solidFill>
            </a:endParaRPr>
          </a:p>
          <a:p>
            <a:pPr marL="114300" indent="0">
              <a:buClr>
                <a:schemeClr val="bg1"/>
              </a:buClr>
              <a:buNone/>
            </a:pPr>
            <a:r>
              <a:rPr lang="en-IN" sz="2800" dirty="0">
                <a:solidFill>
                  <a:schemeClr val="bg1"/>
                </a:solidFill>
              </a:rPr>
              <a:t>Steps Taken :-</a:t>
            </a:r>
            <a:endParaRPr lang="en-IN" sz="2400" dirty="0">
              <a:solidFill>
                <a:schemeClr val="bg1"/>
              </a:solidFill>
            </a:endParaRPr>
          </a:p>
          <a:p>
            <a:pPr marL="114300" indent="0">
              <a:buClr>
                <a:schemeClr val="bg1"/>
              </a:buClr>
              <a:buNone/>
            </a:pPr>
            <a:r>
              <a:rPr lang="en-IN" sz="2400" dirty="0">
                <a:solidFill>
                  <a:schemeClr val="bg1"/>
                </a:solidFill>
              </a:rPr>
              <a:t>1) 	Missing Value Verification :-</a:t>
            </a:r>
          </a:p>
          <a:p>
            <a:pPr marL="114300" indent="0">
              <a:buClr>
                <a:schemeClr val="bg1"/>
              </a:buClr>
              <a:buNone/>
            </a:pPr>
            <a:r>
              <a:rPr lang="en-IN" sz="2800" dirty="0">
                <a:solidFill>
                  <a:schemeClr val="bg1"/>
                </a:solidFill>
              </a:rPr>
              <a:t>	</a:t>
            </a:r>
            <a:r>
              <a:rPr lang="en-IN" sz="2400" dirty="0">
                <a:solidFill>
                  <a:schemeClr val="bg1"/>
                </a:solidFill>
              </a:rPr>
              <a:t>Checked all 10 columns for missing values using null value analysis and one missing value was found.</a:t>
            </a:r>
          </a:p>
          <a:p>
            <a:pPr marL="114300" indent="0">
              <a:buClr>
                <a:schemeClr val="bg1"/>
              </a:buClr>
              <a:buNone/>
            </a:pPr>
            <a:r>
              <a:rPr lang="en-IN" sz="2400" dirty="0">
                <a:solidFill>
                  <a:schemeClr val="bg1"/>
                </a:solidFill>
              </a:rPr>
              <a:t>	Since the percentage of missing values was below 5%, the row was deleted.</a:t>
            </a:r>
          </a:p>
          <a:p>
            <a:pPr marL="114300" indent="0">
              <a:buClr>
                <a:schemeClr val="bg1"/>
              </a:buClr>
              <a:buNone/>
            </a:pPr>
            <a:endParaRPr lang="en-IN" sz="2400" dirty="0">
              <a:solidFill>
                <a:schemeClr val="bg1"/>
              </a:solidFill>
            </a:endParaRPr>
          </a:p>
          <a:p>
            <a:pPr marL="114300" indent="0">
              <a:buClr>
                <a:schemeClr val="bg1"/>
              </a:buClr>
              <a:buNone/>
            </a:pPr>
            <a:r>
              <a:rPr lang="en-IN" sz="2400" dirty="0">
                <a:solidFill>
                  <a:schemeClr val="bg1"/>
                </a:solidFill>
              </a:rPr>
              <a:t>2)	Duplicate Data Check :-</a:t>
            </a:r>
          </a:p>
          <a:p>
            <a:pPr marL="114300" indent="0">
              <a:buClr>
                <a:schemeClr val="bg1"/>
              </a:buClr>
              <a:buNone/>
            </a:pPr>
            <a:r>
              <a:rPr lang="en-IN" sz="2400" dirty="0">
                <a:solidFill>
                  <a:schemeClr val="bg1"/>
                </a:solidFill>
              </a:rPr>
              <a:t>	Verified whether there were any duplicate records in the dataset.</a:t>
            </a:r>
          </a:p>
          <a:p>
            <a:pPr marL="114300" indent="0">
              <a:buClr>
                <a:schemeClr val="bg1"/>
              </a:buClr>
              <a:buNone/>
            </a:pPr>
            <a:r>
              <a:rPr lang="en-IN" sz="2400" dirty="0">
                <a:solidFill>
                  <a:schemeClr val="bg1"/>
                </a:solidFill>
              </a:rPr>
              <a:t>	No duplicate entries were found , confirming that all the 2920 rows were unique.</a:t>
            </a:r>
          </a:p>
          <a:p>
            <a:pPr marL="114300" indent="0">
              <a:buClr>
                <a:schemeClr val="bg1"/>
              </a:buClr>
              <a:buNone/>
            </a:pPr>
            <a:endParaRPr lang="en-IN" sz="2400" dirty="0">
              <a:solidFill>
                <a:schemeClr val="bg1"/>
              </a:solidFill>
            </a:endParaRPr>
          </a:p>
          <a:p>
            <a:pPr marL="114300" indent="0">
              <a:buClr>
                <a:schemeClr val="bg1"/>
              </a:buClr>
              <a:buNone/>
            </a:pPr>
            <a:r>
              <a:rPr lang="en-IN" sz="2400" dirty="0">
                <a:solidFill>
                  <a:schemeClr val="bg1"/>
                </a:solidFill>
              </a:rPr>
              <a:t>3)	Data Type Validation :-</a:t>
            </a:r>
          </a:p>
          <a:p>
            <a:pPr marL="114300" indent="0">
              <a:buClr>
                <a:schemeClr val="bg1"/>
              </a:buClr>
              <a:buNone/>
            </a:pPr>
            <a:r>
              <a:rPr lang="en-IN" sz="2800" dirty="0">
                <a:solidFill>
                  <a:schemeClr val="bg1"/>
                </a:solidFill>
              </a:rPr>
              <a:t>	</a:t>
            </a:r>
            <a:r>
              <a:rPr lang="en-IN" sz="2400" dirty="0">
                <a:solidFill>
                  <a:schemeClr val="bg1"/>
                </a:solidFill>
              </a:rPr>
              <a:t>It was found that all the columns given in the dataset were unique.</a:t>
            </a:r>
          </a:p>
          <a:p>
            <a:pPr marL="114300" indent="0">
              <a:buClr>
                <a:schemeClr val="bg1"/>
              </a:buClr>
              <a:buNone/>
            </a:pPr>
            <a:r>
              <a:rPr lang="en-IN" sz="2400" dirty="0">
                <a:solidFill>
                  <a:schemeClr val="bg1"/>
                </a:solidFill>
              </a:rPr>
              <a:t>	Hence we confirmed that it was a regression project.</a:t>
            </a:r>
          </a:p>
          <a:p>
            <a:pPr marL="114300" indent="0">
              <a:buClr>
                <a:schemeClr val="bg1"/>
              </a:buClr>
              <a:buNone/>
            </a:pPr>
            <a:endParaRPr lang="en-IN" sz="2800" dirty="0">
              <a:solidFill>
                <a:schemeClr val="bg1"/>
              </a:solidFill>
            </a:endParaRPr>
          </a:p>
        </p:txBody>
      </p:sp>
    </p:spTree>
    <p:extLst>
      <p:ext uri="{BB962C8B-B14F-4D97-AF65-F5344CB8AC3E}">
        <p14:creationId xmlns:p14="http://schemas.microsoft.com/office/powerpoint/2010/main" val="133791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0E3B98D1-75CA-F939-260C-ED4C93821948}"/>
              </a:ext>
            </a:extLst>
          </p:cNvPr>
          <p:cNvSpPr>
            <a:spLocks noGrp="1"/>
          </p:cNvSpPr>
          <p:nvPr>
            <p:ph type="body" idx="1"/>
          </p:nvPr>
        </p:nvSpPr>
        <p:spPr/>
        <p:txBody>
          <a:bodyPr/>
          <a:lstStyle/>
          <a:p>
            <a:endParaRPr lang="en-IN" dirty="0"/>
          </a:p>
        </p:txBody>
      </p:sp>
      <p:pic>
        <p:nvPicPr>
          <p:cNvPr id="4" name="Google Shape;155;p18">
            <a:extLst>
              <a:ext uri="{FF2B5EF4-FFF2-40B4-BE49-F238E27FC236}">
                <a16:creationId xmlns:a16="http://schemas.microsoft.com/office/drawing/2014/main" id="{25A118F6-2CDE-3D0E-0DC7-BDA3CABA06D0}"/>
              </a:ext>
            </a:extLst>
          </p:cNvPr>
          <p:cNvPicPr preferRelativeResize="0"/>
          <p:nvPr/>
        </p:nvPicPr>
        <p:blipFill>
          <a:blip r:embed="rId2">
            <a:alphaModFix/>
          </a:blip>
          <a:stretch>
            <a:fillRect/>
          </a:stretch>
        </p:blipFill>
        <p:spPr>
          <a:xfrm>
            <a:off x="0" y="0"/>
            <a:ext cx="18288000" cy="13242715"/>
          </a:xfrm>
          <a:prstGeom prst="rect">
            <a:avLst/>
          </a:prstGeom>
          <a:noFill/>
          <a:ln>
            <a:noFill/>
          </a:ln>
        </p:spPr>
      </p:pic>
      <p:pic>
        <p:nvPicPr>
          <p:cNvPr id="5" name="Google Shape;194;p20">
            <a:extLst>
              <a:ext uri="{FF2B5EF4-FFF2-40B4-BE49-F238E27FC236}">
                <a16:creationId xmlns:a16="http://schemas.microsoft.com/office/drawing/2014/main" id="{1242D0A8-4453-7DF4-9290-F59B1392DD11}"/>
              </a:ext>
            </a:extLst>
          </p:cNvPr>
          <p:cNvPicPr preferRelativeResize="0"/>
          <p:nvPr/>
        </p:nvPicPr>
        <p:blipFill>
          <a:blip r:embed="rId3">
            <a:alphaModFix/>
          </a:blip>
          <a:stretch>
            <a:fillRect/>
          </a:stretch>
        </p:blipFill>
        <p:spPr>
          <a:xfrm>
            <a:off x="496100" y="418402"/>
            <a:ext cx="17295800" cy="9450196"/>
          </a:xfrm>
          <a:prstGeom prst="rect">
            <a:avLst/>
          </a:prstGeom>
          <a:noFill/>
          <a:ln>
            <a:noFill/>
          </a:ln>
        </p:spPr>
      </p:pic>
      <p:sp>
        <p:nvSpPr>
          <p:cNvPr id="15" name="Text Placeholder 22">
            <a:extLst>
              <a:ext uri="{FF2B5EF4-FFF2-40B4-BE49-F238E27FC236}">
                <a16:creationId xmlns:a16="http://schemas.microsoft.com/office/drawing/2014/main" id="{4DF07B8E-15D7-3FEA-B57E-22DD1E255458}"/>
              </a:ext>
            </a:extLst>
          </p:cNvPr>
          <p:cNvSpPr txBox="1">
            <a:spLocks/>
          </p:cNvSpPr>
          <p:nvPr/>
        </p:nvSpPr>
        <p:spPr>
          <a:xfrm>
            <a:off x="1031881" y="1464469"/>
            <a:ext cx="16530637" cy="8129587"/>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360"/>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36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114300" indent="0">
              <a:buClr>
                <a:schemeClr val="bg1"/>
              </a:buClr>
              <a:buFont typeface="Arial"/>
              <a:buNone/>
            </a:pPr>
            <a:r>
              <a:rPr lang="en-IN" sz="2400" dirty="0">
                <a:solidFill>
                  <a:schemeClr val="bg1"/>
                </a:solidFill>
              </a:rPr>
              <a:t>4) 	Outlier Detection &amp; Treatment :-</a:t>
            </a:r>
          </a:p>
          <a:p>
            <a:pPr marL="114300" indent="0">
              <a:buClr>
                <a:schemeClr val="bg1"/>
              </a:buClr>
              <a:buFont typeface="Arial"/>
              <a:buNone/>
            </a:pPr>
            <a:r>
              <a:rPr lang="en-IN" sz="2400" dirty="0">
                <a:solidFill>
                  <a:schemeClr val="bg1"/>
                </a:solidFill>
              </a:rPr>
              <a:t>	Used boxplots to visually detect extreme values in each of the features given</a:t>
            </a:r>
          </a:p>
          <a:p>
            <a:pPr marL="114300" indent="0">
              <a:buClr>
                <a:schemeClr val="bg1"/>
              </a:buClr>
              <a:buFont typeface="Arial"/>
              <a:buNone/>
            </a:pPr>
            <a:r>
              <a:rPr lang="en-IN" sz="2400" dirty="0">
                <a:solidFill>
                  <a:schemeClr val="bg1"/>
                </a:solidFill>
              </a:rPr>
              <a:t>	Outliers were found in most of the columns such as wind-direction, wind-speed, </a:t>
            </a:r>
          </a:p>
          <a:p>
            <a:pPr marL="114300" indent="0">
              <a:buClr>
                <a:schemeClr val="bg1"/>
              </a:buClr>
              <a:buFont typeface="Arial"/>
              <a:buNone/>
            </a:pPr>
            <a:r>
              <a:rPr lang="en-IN" sz="2400" dirty="0">
                <a:solidFill>
                  <a:schemeClr val="bg1"/>
                </a:solidFill>
              </a:rPr>
              <a:t>	visibility etc and they were capped  to the extreme values.</a:t>
            </a:r>
          </a:p>
          <a:p>
            <a:pPr marL="114300" indent="0">
              <a:buClr>
                <a:schemeClr val="bg1"/>
              </a:buClr>
              <a:buFont typeface="Arial"/>
              <a:buNone/>
            </a:pPr>
            <a:endParaRPr lang="en-IN" sz="2400" dirty="0">
              <a:solidFill>
                <a:schemeClr val="bg1"/>
              </a:solidFill>
            </a:endParaRPr>
          </a:p>
          <a:p>
            <a:pPr marL="114300" indent="0">
              <a:buClr>
                <a:schemeClr val="bg1"/>
              </a:buClr>
              <a:buFont typeface="Arial"/>
              <a:buNone/>
            </a:pPr>
            <a:r>
              <a:rPr lang="en-IN" sz="2400" dirty="0">
                <a:solidFill>
                  <a:schemeClr val="bg1"/>
                </a:solidFill>
              </a:rPr>
              <a:t>5)	Feature Dependency</a:t>
            </a:r>
          </a:p>
          <a:p>
            <a:pPr marL="114300" indent="0">
              <a:buClr>
                <a:schemeClr val="bg1"/>
              </a:buClr>
              <a:buFont typeface="Arial"/>
              <a:buNone/>
            </a:pPr>
            <a:r>
              <a:rPr lang="en-IN" sz="2400" dirty="0">
                <a:solidFill>
                  <a:schemeClr val="bg1"/>
                </a:solidFill>
              </a:rPr>
              <a:t>	We calculated the f-regression score and found out that the target column is </a:t>
            </a:r>
          </a:p>
          <a:p>
            <a:pPr marL="114300" indent="0">
              <a:buClr>
                <a:schemeClr val="bg1"/>
              </a:buClr>
              <a:buFont typeface="Arial"/>
              <a:buNone/>
            </a:pPr>
            <a:r>
              <a:rPr lang="en-IN" sz="2400" dirty="0">
                <a:solidFill>
                  <a:schemeClr val="bg1"/>
                </a:solidFill>
              </a:rPr>
              <a:t>	less dependent on visibility and average-pressure-(period).</a:t>
            </a:r>
          </a:p>
          <a:p>
            <a:pPr marL="114300" indent="0">
              <a:buClr>
                <a:schemeClr val="bg1"/>
              </a:buClr>
              <a:buFont typeface="Arial"/>
              <a:buNone/>
            </a:pPr>
            <a:r>
              <a:rPr lang="en-IN" sz="2400" dirty="0">
                <a:solidFill>
                  <a:schemeClr val="bg1"/>
                </a:solidFill>
              </a:rPr>
              <a:t>	We also found out that the VIF score of visibility is so high.</a:t>
            </a:r>
          </a:p>
          <a:p>
            <a:pPr marL="114300" indent="0">
              <a:buClr>
                <a:schemeClr val="bg1"/>
              </a:buClr>
              <a:buFont typeface="Arial"/>
              <a:buNone/>
            </a:pPr>
            <a:r>
              <a:rPr lang="en-IN" sz="2400" dirty="0">
                <a:solidFill>
                  <a:schemeClr val="bg1"/>
                </a:solidFill>
              </a:rPr>
              <a:t>	So we are removing the visibility column as it is not following the conditions.</a:t>
            </a:r>
          </a:p>
          <a:p>
            <a:pPr marL="114300" indent="0">
              <a:buClr>
                <a:schemeClr val="bg1"/>
              </a:buClr>
              <a:buFont typeface="Arial"/>
              <a:buNone/>
            </a:pPr>
            <a:endParaRPr lang="en-IN" sz="2400" dirty="0">
              <a:solidFill>
                <a:schemeClr val="bg1"/>
              </a:solidFill>
            </a:endParaRPr>
          </a:p>
          <a:p>
            <a:pPr marL="114300" indent="0">
              <a:buClr>
                <a:schemeClr val="bg1"/>
              </a:buClr>
              <a:buFont typeface="Arial"/>
              <a:buNone/>
            </a:pPr>
            <a:r>
              <a:rPr lang="en-IN" sz="2400" dirty="0">
                <a:solidFill>
                  <a:schemeClr val="bg1"/>
                </a:solidFill>
              </a:rPr>
              <a:t>6) 	Correlation Matrix:-</a:t>
            </a:r>
          </a:p>
          <a:p>
            <a:pPr marL="114300" indent="0">
              <a:buClr>
                <a:schemeClr val="bg1"/>
              </a:buClr>
              <a:buFont typeface="Arial"/>
              <a:buNone/>
            </a:pPr>
            <a:r>
              <a:rPr lang="en-IN" sz="2400" dirty="0">
                <a:solidFill>
                  <a:schemeClr val="bg1"/>
                </a:solidFill>
              </a:rPr>
              <a:t>	This analysis confirms that solar power generation is primarily driven by the time of day (distance to solar noon) and 	</a:t>
            </a:r>
          </a:p>
          <a:p>
            <a:pPr marL="114300" indent="0">
              <a:buClr>
                <a:schemeClr val="bg1"/>
              </a:buClr>
              <a:buFont typeface="Arial"/>
              <a:buNone/>
            </a:pPr>
            <a:r>
              <a:rPr lang="en-IN" sz="2400" dirty="0">
                <a:solidFill>
                  <a:schemeClr val="bg1"/>
                </a:solidFill>
              </a:rPr>
              <a:t>	atmospheric conditions (sky cover and humidity)</a:t>
            </a:r>
          </a:p>
          <a:p>
            <a:pPr marL="114300" indent="0">
              <a:buClr>
                <a:schemeClr val="bg1"/>
              </a:buClr>
              <a:buFont typeface="Arial"/>
              <a:buNone/>
            </a:pPr>
            <a:r>
              <a:rPr lang="en-IN" sz="2400" dirty="0">
                <a:solidFill>
                  <a:schemeClr val="bg1"/>
                </a:solidFill>
              </a:rPr>
              <a:t>	</a:t>
            </a:r>
          </a:p>
          <a:p>
            <a:pPr marL="114300" indent="0">
              <a:buClr>
                <a:schemeClr val="bg1"/>
              </a:buClr>
              <a:buFont typeface="Arial"/>
              <a:buNone/>
            </a:pPr>
            <a:r>
              <a:rPr lang="en-IN" sz="2400" dirty="0">
                <a:solidFill>
                  <a:schemeClr val="bg1"/>
                </a:solidFill>
              </a:rPr>
              <a:t>	</a:t>
            </a:r>
          </a:p>
        </p:txBody>
      </p:sp>
      <p:pic>
        <p:nvPicPr>
          <p:cNvPr id="17" name="Picture 16">
            <a:extLst>
              <a:ext uri="{FF2B5EF4-FFF2-40B4-BE49-F238E27FC236}">
                <a16:creationId xmlns:a16="http://schemas.microsoft.com/office/drawing/2014/main" id="{AA667A11-02E8-E51B-78E8-39F76E3FC867}"/>
              </a:ext>
            </a:extLst>
          </p:cNvPr>
          <p:cNvPicPr>
            <a:picLocks noChangeAspect="1"/>
          </p:cNvPicPr>
          <p:nvPr/>
        </p:nvPicPr>
        <p:blipFill>
          <a:blip r:embed="rId4"/>
          <a:stretch>
            <a:fillRect/>
          </a:stretch>
        </p:blipFill>
        <p:spPr>
          <a:xfrm>
            <a:off x="11973879" y="1075414"/>
            <a:ext cx="5282240" cy="3753761"/>
          </a:xfrm>
          <a:prstGeom prst="rect">
            <a:avLst/>
          </a:prstGeom>
        </p:spPr>
      </p:pic>
      <p:pic>
        <p:nvPicPr>
          <p:cNvPr id="19" name="Picture 18">
            <a:extLst>
              <a:ext uri="{FF2B5EF4-FFF2-40B4-BE49-F238E27FC236}">
                <a16:creationId xmlns:a16="http://schemas.microsoft.com/office/drawing/2014/main" id="{9300E059-83C8-767F-8219-207AFA784F6E}"/>
              </a:ext>
            </a:extLst>
          </p:cNvPr>
          <p:cNvPicPr>
            <a:picLocks noChangeAspect="1"/>
          </p:cNvPicPr>
          <p:nvPr/>
        </p:nvPicPr>
        <p:blipFill>
          <a:blip r:embed="rId5"/>
          <a:stretch>
            <a:fillRect/>
          </a:stretch>
        </p:blipFill>
        <p:spPr>
          <a:xfrm>
            <a:off x="11823383" y="5335847"/>
            <a:ext cx="5583231" cy="386829"/>
          </a:xfrm>
          <a:prstGeom prst="rect">
            <a:avLst/>
          </a:prstGeom>
        </p:spPr>
      </p:pic>
    </p:spTree>
    <p:extLst>
      <p:ext uri="{BB962C8B-B14F-4D97-AF65-F5344CB8AC3E}">
        <p14:creationId xmlns:p14="http://schemas.microsoft.com/office/powerpoint/2010/main" val="14655738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3F3F3F"/>
        </a:solidFill>
        <a:effectLst/>
      </p:bgPr>
    </p:bg>
    <p:spTree>
      <p:nvGrpSpPr>
        <p:cNvPr id="1" name="Shape 207"/>
        <p:cNvGrpSpPr/>
        <p:nvPr/>
      </p:nvGrpSpPr>
      <p:grpSpPr>
        <a:xfrm>
          <a:off x="0" y="0"/>
          <a:ext cx="0" cy="0"/>
          <a:chOff x="0" y="0"/>
          <a:chExt cx="0" cy="0"/>
        </a:xfrm>
      </p:grpSpPr>
      <p:pic>
        <p:nvPicPr>
          <p:cNvPr id="208" name="Google Shape;208;p21"/>
          <p:cNvPicPr preferRelativeResize="0"/>
          <p:nvPr/>
        </p:nvPicPr>
        <p:blipFill>
          <a:blip r:embed="rId3">
            <a:alphaModFix/>
          </a:blip>
          <a:stretch>
            <a:fillRect/>
          </a:stretch>
        </p:blipFill>
        <p:spPr>
          <a:xfrm>
            <a:off x="159925" y="-1647277"/>
            <a:ext cx="18272952" cy="13214004"/>
          </a:xfrm>
          <a:prstGeom prst="rect">
            <a:avLst/>
          </a:prstGeom>
          <a:noFill/>
          <a:ln>
            <a:noFill/>
          </a:ln>
        </p:spPr>
      </p:pic>
      <p:pic>
        <p:nvPicPr>
          <p:cNvPr id="209" name="Google Shape;209;p21"/>
          <p:cNvPicPr preferRelativeResize="0"/>
          <p:nvPr/>
        </p:nvPicPr>
        <p:blipFill>
          <a:blip r:embed="rId4">
            <a:alphaModFix/>
          </a:blip>
          <a:stretch>
            <a:fillRect/>
          </a:stretch>
        </p:blipFill>
        <p:spPr>
          <a:xfrm>
            <a:off x="4457700" y="747465"/>
            <a:ext cx="9372600" cy="10287000"/>
          </a:xfrm>
          <a:prstGeom prst="rect">
            <a:avLst/>
          </a:prstGeom>
          <a:noFill/>
          <a:ln>
            <a:noFill/>
          </a:ln>
        </p:spPr>
      </p:pic>
      <p:sp>
        <p:nvSpPr>
          <p:cNvPr id="210" name="Google Shape;210;p21"/>
          <p:cNvSpPr txBox="1"/>
          <p:nvPr/>
        </p:nvSpPr>
        <p:spPr>
          <a:xfrm>
            <a:off x="5172075" y="3487472"/>
            <a:ext cx="8001000" cy="3693319"/>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IN" sz="8000" b="0" i="0" u="none" strike="noStrike" cap="none" dirty="0">
                <a:solidFill>
                  <a:srgbClr val="FFFFFF"/>
                </a:solidFill>
                <a:latin typeface="Paytone One"/>
                <a:ea typeface="Paytone One"/>
                <a:cs typeface="Paytone One"/>
                <a:sym typeface="Paytone One"/>
              </a:rPr>
              <a:t>MODEL BUILDING AND EVALUATION</a:t>
            </a:r>
            <a:endParaRPr dirty="0"/>
          </a:p>
        </p:txBody>
      </p:sp>
      <p:sp>
        <p:nvSpPr>
          <p:cNvPr id="212" name="Google Shape;212;p21"/>
          <p:cNvSpPr/>
          <p:nvPr/>
        </p:nvSpPr>
        <p:spPr>
          <a:xfrm flipH="1">
            <a:off x="14174785" y="5968677"/>
            <a:ext cx="3816451" cy="4727586"/>
          </a:xfrm>
          <a:custGeom>
            <a:avLst/>
            <a:gdLst/>
            <a:ahLst/>
            <a:cxnLst/>
            <a:rect l="l" t="t" r="r" b="b"/>
            <a:pathLst>
              <a:path w="3816451" h="4727586" extrusionOk="0">
                <a:moveTo>
                  <a:pt x="3816451" y="0"/>
                </a:moveTo>
                <a:lnTo>
                  <a:pt x="0" y="0"/>
                </a:lnTo>
                <a:lnTo>
                  <a:pt x="0" y="4727586"/>
                </a:lnTo>
                <a:lnTo>
                  <a:pt x="3816451" y="4727586"/>
                </a:lnTo>
                <a:lnTo>
                  <a:pt x="3816451" y="0"/>
                </a:lnTo>
                <a:close/>
              </a:path>
            </a:pathLst>
          </a:custGeom>
          <a:blipFill rotWithShape="1">
            <a:blip r:embed="rId5">
              <a:alphaModFix/>
            </a:blip>
            <a:stretch>
              <a:fillRect/>
            </a:stretch>
          </a:blipFill>
          <a:ln>
            <a:noFill/>
          </a:ln>
        </p:spPr>
        <p:txBody>
          <a:bodyPr/>
          <a:lstStyle/>
          <a:p>
            <a:endParaRPr lang="en-IN" dirty="0"/>
          </a:p>
        </p:txBody>
      </p:sp>
      <p:sp>
        <p:nvSpPr>
          <p:cNvPr id="213" name="Google Shape;213;p21"/>
          <p:cNvSpPr txBox="1"/>
          <p:nvPr/>
        </p:nvSpPr>
        <p:spPr>
          <a:xfrm>
            <a:off x="7122112" y="1257298"/>
            <a:ext cx="4100926" cy="2230174"/>
          </a:xfrm>
          <a:prstGeom prst="rect">
            <a:avLst/>
          </a:prstGeom>
          <a:noFill/>
          <a:ln>
            <a:noFill/>
          </a:ln>
        </p:spPr>
        <p:txBody>
          <a:bodyPr spcFirstLastPara="1" wrap="square" lIns="0" tIns="0" rIns="0" bIns="0" anchor="t" anchorCtr="0">
            <a:spAutoFit/>
          </a:bodyPr>
          <a:lstStyle/>
          <a:p>
            <a:pPr marL="0" marR="0" lvl="0" indent="0" algn="ctr" rtl="0">
              <a:lnSpc>
                <a:spcPct val="111005"/>
              </a:lnSpc>
              <a:spcBef>
                <a:spcPts val="0"/>
              </a:spcBef>
              <a:spcAft>
                <a:spcPts val="0"/>
              </a:spcAft>
              <a:buNone/>
            </a:pPr>
            <a:r>
              <a:rPr lang="en-US" sz="15528" b="0" i="0" u="none" strike="noStrike" cap="none" dirty="0">
                <a:solidFill>
                  <a:srgbClr val="F1E894"/>
                </a:solidFill>
                <a:latin typeface="Paytone One"/>
                <a:ea typeface="Paytone One"/>
                <a:cs typeface="Paytone One"/>
                <a:sym typeface="Paytone One"/>
              </a:rPr>
              <a:t>02</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BCC8D4"/>
        </a:solidFill>
        <a:effectLst/>
      </p:bgPr>
    </p:bg>
    <p:spTree>
      <p:nvGrpSpPr>
        <p:cNvPr id="1" name="Shape 217"/>
        <p:cNvGrpSpPr/>
        <p:nvPr/>
      </p:nvGrpSpPr>
      <p:grpSpPr>
        <a:xfrm>
          <a:off x="0" y="0"/>
          <a:ext cx="0" cy="0"/>
          <a:chOff x="0" y="0"/>
          <a:chExt cx="0" cy="0"/>
        </a:xfrm>
      </p:grpSpPr>
      <p:pic>
        <p:nvPicPr>
          <p:cNvPr id="218" name="Google Shape;218;p22"/>
          <p:cNvPicPr preferRelativeResize="0"/>
          <p:nvPr/>
        </p:nvPicPr>
        <p:blipFill>
          <a:blip r:embed="rId3">
            <a:alphaModFix/>
          </a:blip>
          <a:stretch>
            <a:fillRect/>
          </a:stretch>
        </p:blipFill>
        <p:spPr>
          <a:xfrm>
            <a:off x="-27655" y="-96003"/>
            <a:ext cx="18288000" cy="13242715"/>
          </a:xfrm>
          <a:prstGeom prst="rect">
            <a:avLst/>
          </a:prstGeom>
          <a:noFill/>
          <a:ln>
            <a:noFill/>
          </a:ln>
        </p:spPr>
      </p:pic>
      <p:pic>
        <p:nvPicPr>
          <p:cNvPr id="219" name="Google Shape;219;p22"/>
          <p:cNvPicPr preferRelativeResize="0"/>
          <p:nvPr/>
        </p:nvPicPr>
        <p:blipFill>
          <a:blip r:embed="rId4">
            <a:alphaModFix/>
          </a:blip>
          <a:stretch>
            <a:fillRect/>
          </a:stretch>
        </p:blipFill>
        <p:spPr>
          <a:xfrm>
            <a:off x="753600" y="754431"/>
            <a:ext cx="17010749" cy="9294425"/>
          </a:xfrm>
          <a:prstGeom prst="rect">
            <a:avLst/>
          </a:prstGeom>
          <a:noFill/>
          <a:ln>
            <a:noFill/>
          </a:ln>
        </p:spPr>
      </p:pic>
      <p:sp>
        <p:nvSpPr>
          <p:cNvPr id="223" name="Google Shape;223;p22"/>
          <p:cNvSpPr txBox="1"/>
          <p:nvPr/>
        </p:nvSpPr>
        <p:spPr>
          <a:xfrm>
            <a:off x="1342550" y="1685223"/>
            <a:ext cx="15530988" cy="1195584"/>
          </a:xfrm>
          <a:prstGeom prst="rect">
            <a:avLst/>
          </a:prstGeom>
          <a:noFill/>
          <a:ln>
            <a:noFill/>
          </a:ln>
        </p:spPr>
        <p:txBody>
          <a:bodyPr spcFirstLastPara="1" wrap="square" lIns="0" tIns="0" rIns="0" bIns="0" anchor="t" anchorCtr="0">
            <a:spAutoFit/>
          </a:bodyPr>
          <a:lstStyle/>
          <a:p>
            <a:pPr marL="0" marR="0" lvl="0" indent="0" rtl="0">
              <a:lnSpc>
                <a:spcPct val="111001"/>
              </a:lnSpc>
              <a:spcBef>
                <a:spcPts val="0"/>
              </a:spcBef>
              <a:spcAft>
                <a:spcPts val="0"/>
              </a:spcAft>
              <a:buNone/>
            </a:pPr>
            <a:r>
              <a:rPr lang="en-US" sz="6999" dirty="0">
                <a:solidFill>
                  <a:srgbClr val="F1E894"/>
                </a:solidFill>
                <a:latin typeface="Paytone One"/>
                <a:sym typeface="Paytone One"/>
              </a:rPr>
              <a:t>MODEL BUILDING</a:t>
            </a:r>
            <a:endParaRPr dirty="0"/>
          </a:p>
        </p:txBody>
      </p:sp>
      <p:sp>
        <p:nvSpPr>
          <p:cNvPr id="224" name="Google Shape;224;p22"/>
          <p:cNvSpPr txBox="1"/>
          <p:nvPr/>
        </p:nvSpPr>
        <p:spPr>
          <a:xfrm>
            <a:off x="1342550" y="2880807"/>
            <a:ext cx="15931038" cy="6401753"/>
          </a:xfrm>
          <a:prstGeom prst="rect">
            <a:avLst/>
          </a:prstGeom>
          <a:noFill/>
          <a:ln>
            <a:noFill/>
          </a:ln>
        </p:spPr>
        <p:txBody>
          <a:bodyPr spcFirstLastPara="1" wrap="square" lIns="0" tIns="0" rIns="0" bIns="0" anchor="t" anchorCtr="0">
            <a:spAutoFit/>
          </a:bodyPr>
          <a:lstStyle/>
          <a:p>
            <a:pPr marL="457200" lvl="1" indent="-457200">
              <a:lnSpc>
                <a:spcPct val="130000"/>
              </a:lnSpc>
              <a:buClr>
                <a:schemeClr val="bg1"/>
              </a:buClr>
              <a:buFont typeface="Arial" panose="020B0604020202020204" pitchFamily="34" charset="0"/>
              <a:buChar char="•"/>
            </a:pPr>
            <a:r>
              <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rPr>
              <a:t>	Objective :- </a:t>
            </a:r>
            <a:r>
              <a:rPr lang="en-IN" sz="2400" dirty="0">
                <a:solidFill>
                  <a:schemeClr val="bg1"/>
                </a:solidFill>
                <a:latin typeface="Calibri" panose="020F0502020204030204" pitchFamily="34" charset="0"/>
                <a:ea typeface="Calibri" panose="020F0502020204030204" pitchFamily="34" charset="0"/>
                <a:cs typeface="Calibri" panose="020F0502020204030204" pitchFamily="34" charset="0"/>
              </a:rPr>
              <a:t>To develop and compare multiple machine learning models that can accurately predict the power 	generated using the atmospheric and the geographical features given to us.</a:t>
            </a:r>
          </a:p>
          <a:p>
            <a:pPr marL="457200" lvl="1" indent="-457200">
              <a:lnSpc>
                <a:spcPct val="130000"/>
              </a:lnSpc>
              <a:buClr>
                <a:schemeClr val="bg1"/>
              </a:buClr>
              <a:buFont typeface="Arial" panose="020B0604020202020204" pitchFamily="34" charset="0"/>
              <a:buChar char="•"/>
            </a:pPr>
            <a:endParaRPr lang="en-IN" sz="24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342900" lvl="5" indent="-342900">
              <a:lnSpc>
                <a:spcPct val="130000"/>
              </a:lnSpc>
              <a:buClr>
                <a:schemeClr val="bg1"/>
              </a:buClr>
              <a:buFont typeface="Arial" panose="020B0604020202020204" pitchFamily="34" charset="0"/>
              <a:buChar char="•"/>
            </a:pPr>
            <a:r>
              <a:rPr lang="en-IN" sz="24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rPr>
              <a:t>Steps Taken</a:t>
            </a:r>
            <a:r>
              <a:rPr lang="en-IN" sz="2400" dirty="0">
                <a:solidFill>
                  <a:schemeClr val="bg1"/>
                </a:solidFill>
                <a:latin typeface="Calibri" panose="020F0502020204030204" pitchFamily="34" charset="0"/>
                <a:ea typeface="Calibri" panose="020F0502020204030204" pitchFamily="34" charset="0"/>
                <a:cs typeface="Calibri" panose="020F0502020204030204" pitchFamily="34" charset="0"/>
              </a:rPr>
              <a:t> :-	</a:t>
            </a:r>
          </a:p>
          <a:p>
            <a:pPr lvl="5">
              <a:lnSpc>
                <a:spcPct val="130000"/>
              </a:lnSpc>
              <a:buClr>
                <a:schemeClr val="bg1"/>
              </a:buClr>
            </a:pPr>
            <a:r>
              <a:rPr lang="en-IN" sz="2400" dirty="0">
                <a:solidFill>
                  <a:schemeClr val="bg1"/>
                </a:solidFill>
                <a:latin typeface="Calibri" panose="020F0502020204030204" pitchFamily="34" charset="0"/>
                <a:ea typeface="Calibri" panose="020F0502020204030204" pitchFamily="34" charset="0"/>
                <a:cs typeface="Calibri" panose="020F0502020204030204" pitchFamily="34" charset="0"/>
              </a:rPr>
              <a:t>1)	Train-Test Split :-</a:t>
            </a:r>
          </a:p>
          <a:p>
            <a:pPr lvl="5">
              <a:lnSpc>
                <a:spcPct val="130000"/>
              </a:lnSpc>
              <a:buClr>
                <a:schemeClr val="bg1"/>
              </a:buClr>
            </a:pPr>
            <a:r>
              <a:rPr lang="en-IN" sz="24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We divided our dataset into two distinct sets: Training (80%) and Testing (20%).</a:t>
            </a:r>
          </a:p>
          <a:p>
            <a:pPr lvl="5">
              <a:lnSpc>
                <a:spcPct val="130000"/>
              </a:lnSpc>
              <a:buClr>
                <a:schemeClr val="bg1"/>
              </a:buCl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This ensures that the model is evaluated on "unseen" data. It is the primary defense against </a:t>
            </a:r>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Overfitting</a:t>
            </a: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where a model 	performs perfectly on known data but fails in real-world applications.</a:t>
            </a:r>
          </a:p>
          <a:p>
            <a:pPr lvl="5">
              <a:lnSpc>
                <a:spcPct val="130000"/>
              </a:lnSpc>
              <a:buClr>
                <a:schemeClr val="bg1"/>
              </a:buCl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We utilized a fixed seed (random state=42) for the shuffling process.</a:t>
            </a:r>
            <a:endParaRPr lang="en-IN" sz="24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lvl="5">
              <a:lnSpc>
                <a:spcPct val="130000"/>
              </a:lnSpc>
              <a:buClr>
                <a:schemeClr val="bg1"/>
              </a:buClr>
            </a:pPr>
            <a:endParaRPr lang="en-IN" sz="24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lvl="5">
              <a:lnSpc>
                <a:spcPct val="130000"/>
              </a:lnSpc>
              <a:buClr>
                <a:schemeClr val="bg1"/>
              </a:buClr>
            </a:pPr>
            <a:r>
              <a:rPr lang="en-IN" sz="2400" dirty="0">
                <a:solidFill>
                  <a:schemeClr val="bg1"/>
                </a:solidFill>
                <a:latin typeface="Calibri" panose="020F0502020204030204" pitchFamily="34" charset="0"/>
                <a:ea typeface="Calibri" panose="020F0502020204030204" pitchFamily="34" charset="0"/>
                <a:cs typeface="Calibri" panose="020F0502020204030204" pitchFamily="34" charset="0"/>
              </a:rPr>
              <a:t>2)	Preprocessing :-</a:t>
            </a:r>
          </a:p>
          <a:p>
            <a:pPr lvl="5">
              <a:lnSpc>
                <a:spcPct val="130000"/>
              </a:lnSpc>
              <a:buClr>
                <a:schemeClr val="bg1"/>
              </a:buClr>
            </a:pPr>
            <a:r>
              <a:rPr lang="en-IN" sz="24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We used two separate StandardScaler objects: one for our </a:t>
            </a:r>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Features</a:t>
            </a: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(std_sca) and one for our </a:t>
            </a:r>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Target</a:t>
            </a: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variable 	(std_sca_target).</a:t>
            </a:r>
            <a:endParaRPr lang="en-IN" sz="24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7">
          <a:extLst>
            <a:ext uri="{FF2B5EF4-FFF2-40B4-BE49-F238E27FC236}">
              <a16:creationId xmlns:a16="http://schemas.microsoft.com/office/drawing/2014/main" id="{B9A491CD-A19C-87DA-0137-4D804FEE0CE1}"/>
            </a:ext>
          </a:extLst>
        </p:cNvPr>
        <p:cNvGrpSpPr/>
        <p:nvPr/>
      </p:nvGrpSpPr>
      <p:grpSpPr>
        <a:xfrm>
          <a:off x="0" y="0"/>
          <a:ext cx="0" cy="0"/>
          <a:chOff x="0" y="0"/>
          <a:chExt cx="0" cy="0"/>
        </a:xfrm>
      </p:grpSpPr>
      <p:pic>
        <p:nvPicPr>
          <p:cNvPr id="218" name="Google Shape;218;p22">
            <a:extLst>
              <a:ext uri="{FF2B5EF4-FFF2-40B4-BE49-F238E27FC236}">
                <a16:creationId xmlns:a16="http://schemas.microsoft.com/office/drawing/2014/main" id="{0EE861D9-0C80-95DC-0825-9284C0131905}"/>
              </a:ext>
            </a:extLst>
          </p:cNvPr>
          <p:cNvPicPr preferRelativeResize="0"/>
          <p:nvPr/>
        </p:nvPicPr>
        <p:blipFill>
          <a:blip r:embed="rId3">
            <a:alphaModFix/>
          </a:blip>
          <a:stretch>
            <a:fillRect/>
          </a:stretch>
        </p:blipFill>
        <p:spPr>
          <a:xfrm>
            <a:off x="-27655" y="-96003"/>
            <a:ext cx="18288000" cy="13242715"/>
          </a:xfrm>
          <a:prstGeom prst="rect">
            <a:avLst/>
          </a:prstGeom>
          <a:noFill/>
          <a:ln>
            <a:noFill/>
          </a:ln>
        </p:spPr>
      </p:pic>
      <p:pic>
        <p:nvPicPr>
          <p:cNvPr id="219" name="Google Shape;219;p22">
            <a:extLst>
              <a:ext uri="{FF2B5EF4-FFF2-40B4-BE49-F238E27FC236}">
                <a16:creationId xmlns:a16="http://schemas.microsoft.com/office/drawing/2014/main" id="{D1D3E42C-9966-B14A-A8CE-77CFF2EC62D5}"/>
              </a:ext>
            </a:extLst>
          </p:cNvPr>
          <p:cNvPicPr preferRelativeResize="0"/>
          <p:nvPr/>
        </p:nvPicPr>
        <p:blipFill>
          <a:blip r:embed="rId4">
            <a:alphaModFix/>
          </a:blip>
          <a:stretch>
            <a:fillRect/>
          </a:stretch>
        </p:blipFill>
        <p:spPr>
          <a:xfrm>
            <a:off x="753600" y="754431"/>
            <a:ext cx="17010749" cy="9294425"/>
          </a:xfrm>
          <a:prstGeom prst="rect">
            <a:avLst/>
          </a:prstGeom>
          <a:noFill/>
          <a:ln>
            <a:noFill/>
          </a:ln>
        </p:spPr>
      </p:pic>
      <p:sp>
        <p:nvSpPr>
          <p:cNvPr id="224" name="Google Shape;224;p22">
            <a:extLst>
              <a:ext uri="{FF2B5EF4-FFF2-40B4-BE49-F238E27FC236}">
                <a16:creationId xmlns:a16="http://schemas.microsoft.com/office/drawing/2014/main" id="{3108D2EB-7B0C-601B-F6D0-0DBEB2042634}"/>
              </a:ext>
            </a:extLst>
          </p:cNvPr>
          <p:cNvSpPr txBox="1"/>
          <p:nvPr/>
        </p:nvSpPr>
        <p:spPr>
          <a:xfrm>
            <a:off x="1222255" y="1566357"/>
            <a:ext cx="16073438" cy="8162234"/>
          </a:xfrm>
          <a:prstGeom prst="rect">
            <a:avLst/>
          </a:prstGeom>
          <a:noFill/>
          <a:ln>
            <a:noFill/>
          </a:ln>
        </p:spPr>
        <p:txBody>
          <a:bodyPr spcFirstLastPara="1" wrap="square" lIns="0" tIns="0" rIns="0" bIns="0" anchor="t" anchorCtr="0">
            <a:spAutoFit/>
          </a:bodyPr>
          <a:lstStyle/>
          <a:p>
            <a:pPr lvl="1">
              <a:lnSpc>
                <a:spcPct val="130000"/>
              </a:lnSpc>
              <a:buClr>
                <a:schemeClr val="bg1"/>
              </a:buCl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Scaling transforms all values to have a Mean of 0 and a Standard Deviation of 1.</a:t>
            </a:r>
          </a:p>
          <a:p>
            <a:pPr lvl="1">
              <a:lnSpc>
                <a:spcPct val="130000"/>
              </a:lnSpc>
              <a:buClr>
                <a:schemeClr val="bg1"/>
              </a:buCl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Scaling is essential for algorithms like Gradient Boosting and Linear Regression.</a:t>
            </a:r>
          </a:p>
          <a:p>
            <a:pPr lvl="1">
              <a:lnSpc>
                <a:spcPct val="130000"/>
              </a:lnSpc>
              <a:buClr>
                <a:schemeClr val="bg1"/>
              </a:buClr>
            </a:pPr>
            <a:r>
              <a:rPr lang="en-IN" sz="24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It helps the model's optimization process (gradient descent) converge much faster. By bringing all features to a similar 	scale, the model can find the "mathematical sweet spot" for predictions more efficiently and accurately.</a:t>
            </a:r>
            <a:endParaRPr lang="en-IN" sz="24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lvl="1">
              <a:lnSpc>
                <a:spcPct val="130000"/>
              </a:lnSpc>
              <a:buClr>
                <a:schemeClr val="bg1"/>
              </a:buClr>
            </a:pPr>
            <a:endParaRPr lang="en-IN" sz="24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lvl="1">
              <a:lnSpc>
                <a:spcPct val="130000"/>
              </a:lnSpc>
              <a:buClr>
                <a:schemeClr val="bg1"/>
              </a:buClr>
            </a:pPr>
            <a:r>
              <a:rPr lang="en-IN" sz="2400" dirty="0">
                <a:solidFill>
                  <a:schemeClr val="bg1"/>
                </a:solidFill>
                <a:latin typeface="Calibri" panose="020F0502020204030204" pitchFamily="34" charset="0"/>
                <a:ea typeface="Calibri" panose="020F0502020204030204" pitchFamily="34" charset="0"/>
                <a:cs typeface="Calibri" panose="020F0502020204030204" pitchFamily="34" charset="0"/>
              </a:rPr>
              <a:t>3)	Model Development :-</a:t>
            </a:r>
          </a:p>
          <a:p>
            <a:pPr lvl="1">
              <a:lnSpc>
                <a:spcPct val="130000"/>
              </a:lnSpc>
              <a:buClr>
                <a:schemeClr val="bg1"/>
              </a:buClr>
            </a:pPr>
            <a:r>
              <a:rPr lang="en-IN" sz="2400" dirty="0">
                <a:solidFill>
                  <a:schemeClr val="bg1"/>
                </a:solidFill>
                <a:latin typeface="Calibri" panose="020F0502020204030204" pitchFamily="34" charset="0"/>
                <a:ea typeface="Calibri" panose="020F0502020204030204" pitchFamily="34" charset="0"/>
                <a:cs typeface="Calibri" panose="020F0502020204030204" pitchFamily="34" charset="0"/>
              </a:rPr>
              <a:t>	Five machine learning models are developed using pipelines :-</a:t>
            </a:r>
          </a:p>
          <a:p>
            <a:pPr marL="342900" lvl="4" indent="-342900">
              <a:lnSpc>
                <a:spcPct val="130000"/>
              </a:lnSpc>
              <a:buClr>
                <a:schemeClr val="bg1"/>
              </a:buClr>
              <a:buFont typeface="Arial" panose="020B0604020202020204" pitchFamily="34" charset="0"/>
              <a:buChar char="•"/>
            </a:pPr>
            <a:r>
              <a:rPr lang="en-IN" sz="2400" dirty="0">
                <a:solidFill>
                  <a:schemeClr val="bg1"/>
                </a:solidFill>
                <a:latin typeface="Calibri" panose="020F0502020204030204" pitchFamily="34" charset="0"/>
                <a:ea typeface="Calibri" panose="020F0502020204030204" pitchFamily="34" charset="0"/>
                <a:cs typeface="Calibri" panose="020F0502020204030204" pitchFamily="34" charset="0"/>
              </a:rPr>
              <a:t>	Linear Regression</a:t>
            </a:r>
          </a:p>
          <a:p>
            <a:pPr marL="342900" lvl="5" indent="-342900">
              <a:lnSpc>
                <a:spcPct val="130000"/>
              </a:lnSpc>
              <a:buClr>
                <a:schemeClr val="bg1"/>
              </a:buClr>
              <a:buFont typeface="Arial" panose="020B0604020202020204" pitchFamily="34" charset="0"/>
              <a:buChar char="•"/>
            </a:pPr>
            <a:r>
              <a:rPr lang="en-IN" sz="2400" dirty="0">
                <a:solidFill>
                  <a:schemeClr val="bg1"/>
                </a:solidFill>
                <a:latin typeface="Calibri" panose="020F0502020204030204" pitchFamily="34" charset="0"/>
                <a:ea typeface="Calibri" panose="020F0502020204030204" pitchFamily="34" charset="0"/>
                <a:cs typeface="Calibri" panose="020F0502020204030204" pitchFamily="34" charset="0"/>
              </a:rPr>
              <a:t>	Ridge Regression</a:t>
            </a:r>
          </a:p>
          <a:p>
            <a:pPr marL="342900" lvl="5" indent="-342900">
              <a:lnSpc>
                <a:spcPct val="130000"/>
              </a:lnSpc>
              <a:buClr>
                <a:schemeClr val="bg1"/>
              </a:buClr>
              <a:buFont typeface="Arial" panose="020B0604020202020204" pitchFamily="34" charset="0"/>
              <a:buChar char="•"/>
            </a:pPr>
            <a:r>
              <a:rPr lang="en-IN" sz="2400" dirty="0">
                <a:solidFill>
                  <a:schemeClr val="bg1"/>
                </a:solidFill>
                <a:latin typeface="Calibri" panose="020F0502020204030204" pitchFamily="34" charset="0"/>
                <a:ea typeface="Calibri" panose="020F0502020204030204" pitchFamily="34" charset="0"/>
                <a:cs typeface="Calibri" panose="020F0502020204030204" pitchFamily="34" charset="0"/>
              </a:rPr>
              <a:t>	Support Vector Regression</a:t>
            </a:r>
          </a:p>
          <a:p>
            <a:pPr marL="342900" lvl="5" indent="-342900">
              <a:lnSpc>
                <a:spcPct val="130000"/>
              </a:lnSpc>
              <a:buClr>
                <a:schemeClr val="bg1"/>
              </a:buClr>
              <a:buFont typeface="Arial" panose="020B0604020202020204" pitchFamily="34" charset="0"/>
              <a:buChar char="•"/>
            </a:pPr>
            <a:r>
              <a:rPr lang="en-IN" sz="2400" dirty="0">
                <a:solidFill>
                  <a:schemeClr val="bg1"/>
                </a:solidFill>
                <a:latin typeface="Calibri" panose="020F0502020204030204" pitchFamily="34" charset="0"/>
                <a:ea typeface="Calibri" panose="020F0502020204030204" pitchFamily="34" charset="0"/>
                <a:cs typeface="Calibri" panose="020F0502020204030204" pitchFamily="34" charset="0"/>
              </a:rPr>
              <a:t>	Random Forest Regressor</a:t>
            </a:r>
          </a:p>
          <a:p>
            <a:pPr marL="342900" lvl="5" indent="-342900">
              <a:lnSpc>
                <a:spcPct val="130000"/>
              </a:lnSpc>
              <a:buClr>
                <a:schemeClr val="bg1"/>
              </a:buClr>
              <a:buFont typeface="Arial" panose="020B0604020202020204" pitchFamily="34" charset="0"/>
              <a:buChar char="•"/>
            </a:pPr>
            <a:r>
              <a:rPr lang="en-IN" sz="2400" dirty="0">
                <a:solidFill>
                  <a:schemeClr val="bg1"/>
                </a:solidFill>
                <a:latin typeface="Calibri" panose="020F0502020204030204" pitchFamily="34" charset="0"/>
                <a:ea typeface="Calibri" panose="020F0502020204030204" pitchFamily="34" charset="0"/>
                <a:cs typeface="Calibri" panose="020F0502020204030204" pitchFamily="34" charset="0"/>
              </a:rPr>
              <a:t>	Gradient Boosting Regressor	</a:t>
            </a:r>
          </a:p>
          <a:p>
            <a:pPr lvl="5">
              <a:lnSpc>
                <a:spcPct val="130000"/>
              </a:lnSpc>
              <a:buClr>
                <a:schemeClr val="bg1"/>
              </a:buClr>
            </a:pPr>
            <a:endParaRPr lang="en-IN" sz="24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lvl="5">
              <a:lnSpc>
                <a:spcPct val="130000"/>
              </a:lnSpc>
              <a:buClr>
                <a:schemeClr val="bg1"/>
              </a:buClr>
            </a:pPr>
            <a:r>
              <a:rPr lang="en-IN" sz="2400" dirty="0">
                <a:solidFill>
                  <a:schemeClr val="bg1"/>
                </a:solidFill>
                <a:latin typeface="Calibri" panose="020F0502020204030204" pitchFamily="34" charset="0"/>
                <a:ea typeface="Calibri" panose="020F0502020204030204" pitchFamily="34" charset="0"/>
                <a:cs typeface="Calibri" panose="020F0502020204030204" pitchFamily="34" charset="0"/>
              </a:rPr>
              <a:t>	Each model receives :-</a:t>
            </a:r>
          </a:p>
          <a:p>
            <a:pPr marL="342900" lvl="5" indent="-342900">
              <a:lnSpc>
                <a:spcPct val="130000"/>
              </a:lnSpc>
              <a:buClr>
                <a:schemeClr val="bg1"/>
              </a:buClr>
              <a:buFont typeface="Arial" panose="020B0604020202020204" pitchFamily="34" charset="0"/>
              <a:buChar char="•"/>
            </a:pPr>
            <a:r>
              <a:rPr lang="en-IN" sz="2400" dirty="0">
                <a:solidFill>
                  <a:schemeClr val="bg1"/>
                </a:solidFill>
                <a:latin typeface="Calibri" panose="020F0502020204030204" pitchFamily="34" charset="0"/>
                <a:ea typeface="Calibri" panose="020F0502020204030204" pitchFamily="34" charset="0"/>
                <a:cs typeface="Calibri" panose="020F0502020204030204" pitchFamily="34" charset="0"/>
              </a:rPr>
              <a:t>	Same Training data which is standardized.</a:t>
            </a:r>
          </a:p>
          <a:p>
            <a:pPr marL="342900" lvl="5" indent="-342900">
              <a:lnSpc>
                <a:spcPct val="130000"/>
              </a:lnSpc>
              <a:buClr>
                <a:schemeClr val="bg1"/>
              </a:buClr>
              <a:buFont typeface="Arial" panose="020B0604020202020204" pitchFamily="34" charset="0"/>
              <a:buChar char="•"/>
            </a:pPr>
            <a:r>
              <a:rPr lang="en-IN" sz="2400" dirty="0">
                <a:solidFill>
                  <a:schemeClr val="bg1"/>
                </a:solidFill>
                <a:latin typeface="Calibri" panose="020F0502020204030204" pitchFamily="34" charset="0"/>
                <a:ea typeface="Calibri" panose="020F0502020204030204" pitchFamily="34" charset="0"/>
                <a:cs typeface="Calibri" panose="020F0502020204030204" pitchFamily="34" charset="0"/>
              </a:rPr>
              <a:t>	Same preprocessing Pipeline</a:t>
            </a:r>
          </a:p>
          <a:p>
            <a:pPr lvl="1">
              <a:lnSpc>
                <a:spcPct val="130000"/>
              </a:lnSpc>
              <a:buClr>
                <a:schemeClr val="bg1"/>
              </a:buClr>
            </a:pPr>
            <a:endPar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3456BA11-1670-950C-DE9C-B6AB8775AA9E}"/>
              </a:ext>
            </a:extLst>
          </p:cNvPr>
          <p:cNvPicPr>
            <a:picLocks noChangeAspect="1"/>
          </p:cNvPicPr>
          <p:nvPr/>
        </p:nvPicPr>
        <p:blipFill>
          <a:blip r:embed="rId5"/>
          <a:stretch>
            <a:fillRect/>
          </a:stretch>
        </p:blipFill>
        <p:spPr>
          <a:xfrm>
            <a:off x="6767783" y="5401643"/>
            <a:ext cx="10297962" cy="2342182"/>
          </a:xfrm>
          <a:prstGeom prst="rect">
            <a:avLst/>
          </a:prstGeom>
        </p:spPr>
      </p:pic>
    </p:spTree>
    <p:extLst>
      <p:ext uri="{BB962C8B-B14F-4D97-AF65-F5344CB8AC3E}">
        <p14:creationId xmlns:p14="http://schemas.microsoft.com/office/powerpoint/2010/main" val="23538440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7">
          <a:extLst>
            <a:ext uri="{FF2B5EF4-FFF2-40B4-BE49-F238E27FC236}">
              <a16:creationId xmlns:a16="http://schemas.microsoft.com/office/drawing/2014/main" id="{2874A6F7-E21B-AE38-51C0-94EA5BE88621}"/>
            </a:ext>
          </a:extLst>
        </p:cNvPr>
        <p:cNvGrpSpPr/>
        <p:nvPr/>
      </p:nvGrpSpPr>
      <p:grpSpPr>
        <a:xfrm>
          <a:off x="0" y="0"/>
          <a:ext cx="0" cy="0"/>
          <a:chOff x="0" y="0"/>
          <a:chExt cx="0" cy="0"/>
        </a:xfrm>
      </p:grpSpPr>
      <p:pic>
        <p:nvPicPr>
          <p:cNvPr id="218" name="Google Shape;218;p22">
            <a:extLst>
              <a:ext uri="{FF2B5EF4-FFF2-40B4-BE49-F238E27FC236}">
                <a16:creationId xmlns:a16="http://schemas.microsoft.com/office/drawing/2014/main" id="{50AC270B-5C5B-2F87-3591-69E20BC5FC3D}"/>
              </a:ext>
            </a:extLst>
          </p:cNvPr>
          <p:cNvPicPr preferRelativeResize="0"/>
          <p:nvPr/>
        </p:nvPicPr>
        <p:blipFill>
          <a:blip r:embed="rId3">
            <a:alphaModFix/>
          </a:blip>
          <a:stretch>
            <a:fillRect/>
          </a:stretch>
        </p:blipFill>
        <p:spPr>
          <a:xfrm>
            <a:off x="-27655" y="-96003"/>
            <a:ext cx="18288000" cy="13242715"/>
          </a:xfrm>
          <a:prstGeom prst="rect">
            <a:avLst/>
          </a:prstGeom>
          <a:noFill/>
          <a:ln>
            <a:noFill/>
          </a:ln>
        </p:spPr>
      </p:pic>
      <p:pic>
        <p:nvPicPr>
          <p:cNvPr id="219" name="Google Shape;219;p22">
            <a:extLst>
              <a:ext uri="{FF2B5EF4-FFF2-40B4-BE49-F238E27FC236}">
                <a16:creationId xmlns:a16="http://schemas.microsoft.com/office/drawing/2014/main" id="{445938D9-8366-3FED-144B-22AB742C527D}"/>
              </a:ext>
            </a:extLst>
          </p:cNvPr>
          <p:cNvPicPr preferRelativeResize="0"/>
          <p:nvPr/>
        </p:nvPicPr>
        <p:blipFill>
          <a:blip r:embed="rId4">
            <a:alphaModFix/>
          </a:blip>
          <a:stretch>
            <a:fillRect/>
          </a:stretch>
        </p:blipFill>
        <p:spPr>
          <a:xfrm>
            <a:off x="753600" y="754431"/>
            <a:ext cx="17010749" cy="9294425"/>
          </a:xfrm>
          <a:prstGeom prst="rect">
            <a:avLst/>
          </a:prstGeom>
          <a:noFill/>
          <a:ln>
            <a:noFill/>
          </a:ln>
        </p:spPr>
      </p:pic>
      <p:sp>
        <p:nvSpPr>
          <p:cNvPr id="224" name="Google Shape;224;p22">
            <a:extLst>
              <a:ext uri="{FF2B5EF4-FFF2-40B4-BE49-F238E27FC236}">
                <a16:creationId xmlns:a16="http://schemas.microsoft.com/office/drawing/2014/main" id="{A92FA13E-34E4-55CA-65BB-6949B0A29A3D}"/>
              </a:ext>
            </a:extLst>
          </p:cNvPr>
          <p:cNvSpPr txBox="1"/>
          <p:nvPr/>
        </p:nvSpPr>
        <p:spPr>
          <a:xfrm>
            <a:off x="1222255" y="1566357"/>
            <a:ext cx="16073438" cy="8162234"/>
          </a:xfrm>
          <a:prstGeom prst="rect">
            <a:avLst/>
          </a:prstGeom>
          <a:noFill/>
          <a:ln>
            <a:noFill/>
          </a:ln>
        </p:spPr>
        <p:txBody>
          <a:bodyPr spcFirstLastPara="1" wrap="square" lIns="0" tIns="0" rIns="0" bIns="0" anchor="t" anchorCtr="0">
            <a:spAutoFit/>
          </a:bodyPr>
          <a:lstStyle/>
          <a:p>
            <a:pPr lvl="1">
              <a:lnSpc>
                <a:spcPct val="130000"/>
              </a:lnSpc>
              <a:buClr>
                <a:schemeClr val="bg1"/>
              </a:buCl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4)	Hyperparameter Tuning &amp; Model Selection :-</a:t>
            </a:r>
          </a:p>
          <a:p>
            <a:pPr lvl="1">
              <a:lnSpc>
                <a:spcPct val="130000"/>
              </a:lnSpc>
              <a:buClr>
                <a:schemeClr val="bg1"/>
              </a:buCl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GridSearchCV with 5-fold cross validation</a:t>
            </a:r>
          </a:p>
          <a:p>
            <a:pPr lvl="1">
              <a:lnSpc>
                <a:spcPct val="130000"/>
              </a:lnSpc>
              <a:buClr>
                <a:schemeClr val="bg1"/>
              </a:buCl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Evaluation metric :- RMSE and R2 Score</a:t>
            </a:r>
          </a:p>
          <a:p>
            <a:pPr lvl="1">
              <a:lnSpc>
                <a:spcPct val="130000"/>
              </a:lnSpc>
              <a:buClr>
                <a:schemeClr val="bg1"/>
              </a:buCl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Models Tuned :-</a:t>
            </a:r>
          </a:p>
          <a:p>
            <a:pPr lvl="1">
              <a:lnSpc>
                <a:spcPct val="130000"/>
              </a:lnSpc>
              <a:buClr>
                <a:schemeClr val="bg1"/>
              </a:buCl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Support Vector Regressor</a:t>
            </a:r>
          </a:p>
          <a:p>
            <a:pPr lvl="1">
              <a:lnSpc>
                <a:spcPct val="130000"/>
              </a:lnSpc>
              <a:buClr>
                <a:schemeClr val="bg1"/>
              </a:buCl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Random Forest Regressor</a:t>
            </a:r>
          </a:p>
          <a:p>
            <a:pPr lvl="1">
              <a:lnSpc>
                <a:spcPct val="130000"/>
              </a:lnSpc>
              <a:buClr>
                <a:schemeClr val="bg1"/>
              </a:buCl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Gradient Boosting Regressor</a:t>
            </a:r>
          </a:p>
          <a:p>
            <a:pPr lvl="1">
              <a:lnSpc>
                <a:spcPct val="130000"/>
              </a:lnSpc>
              <a:buClr>
                <a:schemeClr val="bg1"/>
              </a:buCl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Best model selected based on highest R2 Score and lowest RMSE.</a:t>
            </a:r>
          </a:p>
          <a:p>
            <a:pPr lvl="1">
              <a:lnSpc>
                <a:spcPct val="130000"/>
              </a:lnSpc>
              <a:buClr>
                <a:schemeClr val="bg1"/>
              </a:buClr>
            </a:pPr>
            <a:endPar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lvl="1">
              <a:lnSpc>
                <a:spcPct val="130000"/>
              </a:lnSpc>
              <a:buClr>
                <a:schemeClr val="bg1"/>
              </a:buCl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5) 	Final Model Evaluation and Comparison</a:t>
            </a:r>
          </a:p>
          <a:p>
            <a:pPr lvl="1">
              <a:lnSpc>
                <a:spcPct val="130000"/>
              </a:lnSpc>
              <a:buClr>
                <a:schemeClr val="bg1"/>
              </a:buCl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All 5 models evaluated on the unseen test data</a:t>
            </a:r>
          </a:p>
          <a:p>
            <a:pPr lvl="1">
              <a:lnSpc>
                <a:spcPct val="130000"/>
              </a:lnSpc>
              <a:buClr>
                <a:schemeClr val="bg1"/>
              </a:buCl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Metrics used :-</a:t>
            </a:r>
          </a:p>
          <a:p>
            <a:pPr lvl="1">
              <a:lnSpc>
                <a:spcPct val="130000"/>
              </a:lnSpc>
              <a:buClr>
                <a:schemeClr val="bg1"/>
              </a:buCl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Mean Absolute Error (MAE)</a:t>
            </a:r>
          </a:p>
          <a:p>
            <a:pPr lvl="1">
              <a:lnSpc>
                <a:spcPct val="130000"/>
              </a:lnSpc>
              <a:buClr>
                <a:schemeClr val="bg1"/>
              </a:buCl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Root Mean Square Error (RMSE)</a:t>
            </a:r>
          </a:p>
          <a:p>
            <a:pPr lvl="1">
              <a:lnSpc>
                <a:spcPct val="130000"/>
              </a:lnSpc>
              <a:buClr>
                <a:schemeClr val="bg1"/>
              </a:buCl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R2 Score</a:t>
            </a:r>
          </a:p>
          <a:p>
            <a:pPr lvl="1">
              <a:lnSpc>
                <a:spcPct val="130000"/>
              </a:lnSpc>
              <a:buClr>
                <a:schemeClr val="bg1"/>
              </a:buCl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a:t>
            </a:r>
          </a:p>
          <a:p>
            <a:pPr lvl="1">
              <a:lnSpc>
                <a:spcPct val="130000"/>
              </a:lnSpc>
              <a:buClr>
                <a:schemeClr val="bg1"/>
              </a:buClr>
            </a:pPr>
            <a:endPar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AF919B41-E5F7-30BE-21EC-995267DAC492}"/>
              </a:ext>
            </a:extLst>
          </p:cNvPr>
          <p:cNvPicPr>
            <a:picLocks noChangeAspect="1"/>
          </p:cNvPicPr>
          <p:nvPr/>
        </p:nvPicPr>
        <p:blipFill>
          <a:blip r:embed="rId5"/>
          <a:stretch>
            <a:fillRect/>
          </a:stretch>
        </p:blipFill>
        <p:spPr>
          <a:xfrm>
            <a:off x="11529699" y="1566357"/>
            <a:ext cx="5315264" cy="4006197"/>
          </a:xfrm>
          <a:prstGeom prst="rect">
            <a:avLst/>
          </a:prstGeom>
        </p:spPr>
      </p:pic>
    </p:spTree>
    <p:extLst>
      <p:ext uri="{BB962C8B-B14F-4D97-AF65-F5344CB8AC3E}">
        <p14:creationId xmlns:p14="http://schemas.microsoft.com/office/powerpoint/2010/main" val="16913812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7">
          <a:extLst>
            <a:ext uri="{FF2B5EF4-FFF2-40B4-BE49-F238E27FC236}">
              <a16:creationId xmlns:a16="http://schemas.microsoft.com/office/drawing/2014/main" id="{2A5DDF6D-E3D6-5EAD-26E8-4C4AB610F03D}"/>
            </a:ext>
          </a:extLst>
        </p:cNvPr>
        <p:cNvGrpSpPr/>
        <p:nvPr/>
      </p:nvGrpSpPr>
      <p:grpSpPr>
        <a:xfrm>
          <a:off x="0" y="0"/>
          <a:ext cx="0" cy="0"/>
          <a:chOff x="0" y="0"/>
          <a:chExt cx="0" cy="0"/>
        </a:xfrm>
      </p:grpSpPr>
      <p:pic>
        <p:nvPicPr>
          <p:cNvPr id="218" name="Google Shape;218;p22">
            <a:extLst>
              <a:ext uri="{FF2B5EF4-FFF2-40B4-BE49-F238E27FC236}">
                <a16:creationId xmlns:a16="http://schemas.microsoft.com/office/drawing/2014/main" id="{91E52C46-6F43-2477-2768-1224748E261A}"/>
              </a:ext>
            </a:extLst>
          </p:cNvPr>
          <p:cNvPicPr preferRelativeResize="0"/>
          <p:nvPr/>
        </p:nvPicPr>
        <p:blipFill>
          <a:blip r:embed="rId3">
            <a:alphaModFix/>
          </a:blip>
          <a:stretch>
            <a:fillRect/>
          </a:stretch>
        </p:blipFill>
        <p:spPr>
          <a:xfrm>
            <a:off x="-27655" y="-96003"/>
            <a:ext cx="18288000" cy="13242715"/>
          </a:xfrm>
          <a:prstGeom prst="rect">
            <a:avLst/>
          </a:prstGeom>
          <a:noFill/>
          <a:ln>
            <a:noFill/>
          </a:ln>
        </p:spPr>
      </p:pic>
      <p:pic>
        <p:nvPicPr>
          <p:cNvPr id="219" name="Google Shape;219;p22">
            <a:extLst>
              <a:ext uri="{FF2B5EF4-FFF2-40B4-BE49-F238E27FC236}">
                <a16:creationId xmlns:a16="http://schemas.microsoft.com/office/drawing/2014/main" id="{975F0B9A-54D0-5A9F-6DA7-43FA5A11E502}"/>
              </a:ext>
            </a:extLst>
          </p:cNvPr>
          <p:cNvPicPr preferRelativeResize="0"/>
          <p:nvPr/>
        </p:nvPicPr>
        <p:blipFill>
          <a:blip r:embed="rId4">
            <a:alphaModFix/>
          </a:blip>
          <a:stretch>
            <a:fillRect/>
          </a:stretch>
        </p:blipFill>
        <p:spPr>
          <a:xfrm>
            <a:off x="753600" y="754431"/>
            <a:ext cx="17010749" cy="9294425"/>
          </a:xfrm>
          <a:prstGeom prst="rect">
            <a:avLst/>
          </a:prstGeom>
          <a:noFill/>
          <a:ln>
            <a:noFill/>
          </a:ln>
        </p:spPr>
      </p:pic>
      <p:sp>
        <p:nvSpPr>
          <p:cNvPr id="224" name="Google Shape;224;p22">
            <a:extLst>
              <a:ext uri="{FF2B5EF4-FFF2-40B4-BE49-F238E27FC236}">
                <a16:creationId xmlns:a16="http://schemas.microsoft.com/office/drawing/2014/main" id="{6EE248A9-9883-0C09-6451-FFC015A96D18}"/>
              </a:ext>
            </a:extLst>
          </p:cNvPr>
          <p:cNvSpPr txBox="1"/>
          <p:nvPr/>
        </p:nvSpPr>
        <p:spPr>
          <a:xfrm>
            <a:off x="1222255" y="1566357"/>
            <a:ext cx="16073438" cy="1520416"/>
          </a:xfrm>
          <a:prstGeom prst="rect">
            <a:avLst/>
          </a:prstGeom>
          <a:noFill/>
          <a:ln>
            <a:noFill/>
          </a:ln>
        </p:spPr>
        <p:txBody>
          <a:bodyPr spcFirstLastPara="1" wrap="square" lIns="0" tIns="0" rIns="0" bIns="0" anchor="t" anchorCtr="0">
            <a:spAutoFit/>
          </a:bodyPr>
          <a:lstStyle/>
          <a:p>
            <a:pPr marL="342900" lvl="2" indent="-342900">
              <a:lnSpc>
                <a:spcPct val="130000"/>
              </a:lnSpc>
              <a:buClr>
                <a:schemeClr val="bg1"/>
              </a:buClr>
              <a:buFont typeface="Arial" panose="020B0604020202020204" pitchFamily="34" charset="0"/>
              <a:buChar cha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800" b="1" dirty="0">
                <a:solidFill>
                  <a:schemeClr val="bg1"/>
                </a:solidFill>
                <a:latin typeface="Calibri" panose="020F0502020204030204" pitchFamily="34" charset="0"/>
                <a:ea typeface="Calibri" panose="020F0502020204030204" pitchFamily="34" charset="0"/>
                <a:cs typeface="Calibri" panose="020F0502020204030204" pitchFamily="34" charset="0"/>
              </a:rPr>
              <a:t>Additional Visualization</a:t>
            </a: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a:t>
            </a:r>
          </a:p>
          <a:p>
            <a:pPr lvl="5">
              <a:lnSpc>
                <a:spcPct val="130000"/>
              </a:lnSpc>
              <a:buClr>
                <a:schemeClr val="bg1"/>
              </a:buCl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We have plotted the Distribution of residuals and the Actual v/s Predicted values of the best model.	</a:t>
            </a:r>
          </a:p>
          <a:p>
            <a:pPr lvl="1">
              <a:lnSpc>
                <a:spcPct val="130000"/>
              </a:lnSpc>
              <a:buClr>
                <a:schemeClr val="bg1"/>
              </a:buClr>
            </a:pPr>
            <a:endPar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F5EE8D1F-4F2A-C7B2-098E-3E7D3E2739CB}"/>
              </a:ext>
            </a:extLst>
          </p:cNvPr>
          <p:cNvPicPr>
            <a:picLocks noChangeAspect="1"/>
          </p:cNvPicPr>
          <p:nvPr/>
        </p:nvPicPr>
        <p:blipFill>
          <a:blip r:embed="rId5"/>
          <a:stretch>
            <a:fillRect/>
          </a:stretch>
        </p:blipFill>
        <p:spPr>
          <a:xfrm>
            <a:off x="1377170" y="3148343"/>
            <a:ext cx="7506748" cy="5020376"/>
          </a:xfrm>
          <a:prstGeom prst="rect">
            <a:avLst/>
          </a:prstGeom>
        </p:spPr>
      </p:pic>
      <p:pic>
        <p:nvPicPr>
          <p:cNvPr id="6" name="Picture 5">
            <a:extLst>
              <a:ext uri="{FF2B5EF4-FFF2-40B4-BE49-F238E27FC236}">
                <a16:creationId xmlns:a16="http://schemas.microsoft.com/office/drawing/2014/main" id="{DEC8202D-8DB2-7BD8-E105-AE6BD55EA108}"/>
              </a:ext>
            </a:extLst>
          </p:cNvPr>
          <p:cNvPicPr>
            <a:picLocks noChangeAspect="1"/>
          </p:cNvPicPr>
          <p:nvPr/>
        </p:nvPicPr>
        <p:blipFill>
          <a:blip r:embed="rId6"/>
          <a:stretch>
            <a:fillRect/>
          </a:stretch>
        </p:blipFill>
        <p:spPr>
          <a:xfrm>
            <a:off x="9116345" y="3186449"/>
            <a:ext cx="7783011" cy="4982270"/>
          </a:xfrm>
          <a:prstGeom prst="rect">
            <a:avLst/>
          </a:prstGeom>
        </p:spPr>
      </p:pic>
    </p:spTree>
    <p:extLst>
      <p:ext uri="{BB962C8B-B14F-4D97-AF65-F5344CB8AC3E}">
        <p14:creationId xmlns:p14="http://schemas.microsoft.com/office/powerpoint/2010/main" val="7444202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7">
          <a:extLst>
            <a:ext uri="{FF2B5EF4-FFF2-40B4-BE49-F238E27FC236}">
              <a16:creationId xmlns:a16="http://schemas.microsoft.com/office/drawing/2014/main" id="{2B973FFA-DF86-9D24-DA47-2906D0CE4993}"/>
            </a:ext>
          </a:extLst>
        </p:cNvPr>
        <p:cNvGrpSpPr/>
        <p:nvPr/>
      </p:nvGrpSpPr>
      <p:grpSpPr>
        <a:xfrm>
          <a:off x="0" y="0"/>
          <a:ext cx="0" cy="0"/>
          <a:chOff x="0" y="0"/>
          <a:chExt cx="0" cy="0"/>
        </a:xfrm>
      </p:grpSpPr>
      <p:pic>
        <p:nvPicPr>
          <p:cNvPr id="218" name="Google Shape;218;p22">
            <a:extLst>
              <a:ext uri="{FF2B5EF4-FFF2-40B4-BE49-F238E27FC236}">
                <a16:creationId xmlns:a16="http://schemas.microsoft.com/office/drawing/2014/main" id="{9F7A1200-ECF7-22AA-77DF-D60AC5E416DE}"/>
              </a:ext>
            </a:extLst>
          </p:cNvPr>
          <p:cNvPicPr preferRelativeResize="0"/>
          <p:nvPr/>
        </p:nvPicPr>
        <p:blipFill>
          <a:blip r:embed="rId3">
            <a:alphaModFix/>
          </a:blip>
          <a:stretch>
            <a:fillRect/>
          </a:stretch>
        </p:blipFill>
        <p:spPr>
          <a:xfrm>
            <a:off x="-27655" y="-96003"/>
            <a:ext cx="18288000" cy="13242715"/>
          </a:xfrm>
          <a:prstGeom prst="rect">
            <a:avLst/>
          </a:prstGeom>
          <a:noFill/>
          <a:ln>
            <a:noFill/>
          </a:ln>
        </p:spPr>
      </p:pic>
      <p:pic>
        <p:nvPicPr>
          <p:cNvPr id="219" name="Google Shape;219;p22">
            <a:extLst>
              <a:ext uri="{FF2B5EF4-FFF2-40B4-BE49-F238E27FC236}">
                <a16:creationId xmlns:a16="http://schemas.microsoft.com/office/drawing/2014/main" id="{09332063-627A-7C5A-A34E-2E11F6A9444B}"/>
              </a:ext>
            </a:extLst>
          </p:cNvPr>
          <p:cNvPicPr preferRelativeResize="0"/>
          <p:nvPr/>
        </p:nvPicPr>
        <p:blipFill>
          <a:blip r:embed="rId4">
            <a:alphaModFix/>
          </a:blip>
          <a:stretch>
            <a:fillRect/>
          </a:stretch>
        </p:blipFill>
        <p:spPr>
          <a:xfrm>
            <a:off x="753600" y="754431"/>
            <a:ext cx="17010749" cy="9294425"/>
          </a:xfrm>
          <a:prstGeom prst="rect">
            <a:avLst/>
          </a:prstGeom>
          <a:noFill/>
          <a:ln>
            <a:noFill/>
          </a:ln>
        </p:spPr>
      </p:pic>
      <p:sp>
        <p:nvSpPr>
          <p:cNvPr id="224" name="Google Shape;224;p22">
            <a:extLst>
              <a:ext uri="{FF2B5EF4-FFF2-40B4-BE49-F238E27FC236}">
                <a16:creationId xmlns:a16="http://schemas.microsoft.com/office/drawing/2014/main" id="{ECEBB327-2694-FED6-3D98-95554CDB743C}"/>
              </a:ext>
            </a:extLst>
          </p:cNvPr>
          <p:cNvSpPr txBox="1"/>
          <p:nvPr/>
        </p:nvSpPr>
        <p:spPr>
          <a:xfrm>
            <a:off x="1222255" y="1566357"/>
            <a:ext cx="16073438" cy="3841052"/>
          </a:xfrm>
          <a:prstGeom prst="rect">
            <a:avLst/>
          </a:prstGeom>
          <a:noFill/>
          <a:ln>
            <a:noFill/>
          </a:ln>
        </p:spPr>
        <p:txBody>
          <a:bodyPr spcFirstLastPara="1" wrap="square" lIns="0" tIns="0" rIns="0" bIns="0" anchor="t" anchorCtr="0">
            <a:spAutoFit/>
          </a:bodyPr>
          <a:lstStyle/>
          <a:p>
            <a:pPr lvl="1">
              <a:lnSpc>
                <a:spcPct val="130000"/>
              </a:lnSpc>
              <a:buClr>
                <a:schemeClr val="bg1"/>
              </a:buCl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7) 	Final Model Selection &amp; Saving :-</a:t>
            </a:r>
          </a:p>
          <a:p>
            <a:pPr lvl="1">
              <a:lnSpc>
                <a:spcPct val="130000"/>
              </a:lnSpc>
              <a:buClr>
                <a:schemeClr val="bg1"/>
              </a:buCl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Gradient Boosting Regressor achieved low RMSE value and high R2 Score.</a:t>
            </a:r>
          </a:p>
          <a:p>
            <a:pPr lvl="1">
              <a:lnSpc>
                <a:spcPct val="130000"/>
              </a:lnSpc>
              <a:buClr>
                <a:schemeClr val="bg1"/>
              </a:buCl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So chosen as the Final Model.</a:t>
            </a:r>
          </a:p>
          <a:p>
            <a:pPr lvl="1">
              <a:lnSpc>
                <a:spcPct val="130000"/>
              </a:lnSpc>
              <a:buClr>
                <a:schemeClr val="bg1"/>
              </a:buCl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Entire preprocessing + Model pipeline saved as </a:t>
            </a:r>
          </a:p>
          <a:p>
            <a:pPr lvl="1">
              <a:lnSpc>
                <a:spcPct val="130000"/>
              </a:lnSpc>
              <a:buClr>
                <a:schemeClr val="bg1"/>
              </a:buCl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“gbr_model.pkl”</a:t>
            </a:r>
          </a:p>
          <a:p>
            <a:pPr lvl="1">
              <a:lnSpc>
                <a:spcPct val="130000"/>
              </a:lnSpc>
              <a:buClr>
                <a:schemeClr val="bg1"/>
              </a:buCl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Model is deployment Ready</a:t>
            </a:r>
          </a:p>
          <a:p>
            <a:pPr lvl="1">
              <a:lnSpc>
                <a:spcPct val="130000"/>
              </a:lnSpc>
              <a:buClr>
                <a:schemeClr val="bg1"/>
              </a:buCl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a:t>
            </a:r>
          </a:p>
          <a:p>
            <a:pPr lvl="1">
              <a:lnSpc>
                <a:spcPct val="130000"/>
              </a:lnSpc>
              <a:buClr>
                <a:schemeClr val="bg1"/>
              </a:buClr>
            </a:pPr>
            <a:endPar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2F2070C9-5D71-A792-373F-35BE5E2AE26F}"/>
              </a:ext>
            </a:extLst>
          </p:cNvPr>
          <p:cNvPicPr>
            <a:picLocks noChangeAspect="1"/>
          </p:cNvPicPr>
          <p:nvPr/>
        </p:nvPicPr>
        <p:blipFill>
          <a:blip r:embed="rId5"/>
          <a:stretch>
            <a:fillRect/>
          </a:stretch>
        </p:blipFill>
        <p:spPr>
          <a:xfrm>
            <a:off x="11338514" y="1399515"/>
            <a:ext cx="5957179" cy="4174736"/>
          </a:xfrm>
          <a:prstGeom prst="rect">
            <a:avLst/>
          </a:prstGeom>
        </p:spPr>
      </p:pic>
      <p:pic>
        <p:nvPicPr>
          <p:cNvPr id="6" name="Picture 5">
            <a:extLst>
              <a:ext uri="{FF2B5EF4-FFF2-40B4-BE49-F238E27FC236}">
                <a16:creationId xmlns:a16="http://schemas.microsoft.com/office/drawing/2014/main" id="{29D49FA1-789D-DF30-AE61-3AE63F0DEC44}"/>
              </a:ext>
            </a:extLst>
          </p:cNvPr>
          <p:cNvPicPr>
            <a:picLocks noChangeAspect="1"/>
          </p:cNvPicPr>
          <p:nvPr/>
        </p:nvPicPr>
        <p:blipFill>
          <a:blip r:embed="rId6"/>
          <a:stretch>
            <a:fillRect/>
          </a:stretch>
        </p:blipFill>
        <p:spPr>
          <a:xfrm>
            <a:off x="2228849" y="4614798"/>
            <a:ext cx="6249023" cy="4917771"/>
          </a:xfrm>
          <a:prstGeom prst="rect">
            <a:avLst/>
          </a:prstGeom>
        </p:spPr>
      </p:pic>
    </p:spTree>
    <p:extLst>
      <p:ext uri="{BB962C8B-B14F-4D97-AF65-F5344CB8AC3E}">
        <p14:creationId xmlns:p14="http://schemas.microsoft.com/office/powerpoint/2010/main" val="17416147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7">
          <a:extLst>
            <a:ext uri="{FF2B5EF4-FFF2-40B4-BE49-F238E27FC236}">
              <a16:creationId xmlns:a16="http://schemas.microsoft.com/office/drawing/2014/main" id="{5B698D78-8254-5285-289D-607E0462855A}"/>
            </a:ext>
          </a:extLst>
        </p:cNvPr>
        <p:cNvGrpSpPr/>
        <p:nvPr/>
      </p:nvGrpSpPr>
      <p:grpSpPr>
        <a:xfrm>
          <a:off x="0" y="0"/>
          <a:ext cx="0" cy="0"/>
          <a:chOff x="0" y="0"/>
          <a:chExt cx="0" cy="0"/>
        </a:xfrm>
      </p:grpSpPr>
      <p:pic>
        <p:nvPicPr>
          <p:cNvPr id="218" name="Google Shape;218;p22">
            <a:extLst>
              <a:ext uri="{FF2B5EF4-FFF2-40B4-BE49-F238E27FC236}">
                <a16:creationId xmlns:a16="http://schemas.microsoft.com/office/drawing/2014/main" id="{03095C9F-6321-329F-CCD4-BD4F7FE3DECD}"/>
              </a:ext>
            </a:extLst>
          </p:cNvPr>
          <p:cNvPicPr preferRelativeResize="0"/>
          <p:nvPr/>
        </p:nvPicPr>
        <p:blipFill>
          <a:blip r:embed="rId3">
            <a:alphaModFix/>
          </a:blip>
          <a:stretch>
            <a:fillRect/>
          </a:stretch>
        </p:blipFill>
        <p:spPr>
          <a:xfrm>
            <a:off x="-27655" y="-96003"/>
            <a:ext cx="18288000" cy="13242715"/>
          </a:xfrm>
          <a:prstGeom prst="rect">
            <a:avLst/>
          </a:prstGeom>
          <a:noFill/>
          <a:ln>
            <a:noFill/>
          </a:ln>
        </p:spPr>
      </p:pic>
      <p:pic>
        <p:nvPicPr>
          <p:cNvPr id="219" name="Google Shape;219;p22">
            <a:extLst>
              <a:ext uri="{FF2B5EF4-FFF2-40B4-BE49-F238E27FC236}">
                <a16:creationId xmlns:a16="http://schemas.microsoft.com/office/drawing/2014/main" id="{13CEB01C-8D34-0735-5E5E-24DC0B04324A}"/>
              </a:ext>
            </a:extLst>
          </p:cNvPr>
          <p:cNvPicPr preferRelativeResize="0"/>
          <p:nvPr/>
        </p:nvPicPr>
        <p:blipFill>
          <a:blip r:embed="rId4">
            <a:alphaModFix/>
          </a:blip>
          <a:stretch>
            <a:fillRect/>
          </a:stretch>
        </p:blipFill>
        <p:spPr>
          <a:xfrm>
            <a:off x="753600" y="754431"/>
            <a:ext cx="17010749" cy="9294425"/>
          </a:xfrm>
          <a:prstGeom prst="rect">
            <a:avLst/>
          </a:prstGeom>
          <a:noFill/>
          <a:ln>
            <a:noFill/>
          </a:ln>
        </p:spPr>
      </p:pic>
      <p:sp>
        <p:nvSpPr>
          <p:cNvPr id="223" name="Google Shape;223;p22">
            <a:extLst>
              <a:ext uri="{FF2B5EF4-FFF2-40B4-BE49-F238E27FC236}">
                <a16:creationId xmlns:a16="http://schemas.microsoft.com/office/drawing/2014/main" id="{28EB711B-818B-9442-0A49-2DFC6B1132EB}"/>
              </a:ext>
            </a:extLst>
          </p:cNvPr>
          <p:cNvSpPr txBox="1"/>
          <p:nvPr/>
        </p:nvSpPr>
        <p:spPr>
          <a:xfrm>
            <a:off x="1342550" y="1685223"/>
            <a:ext cx="15530988" cy="1195584"/>
          </a:xfrm>
          <a:prstGeom prst="rect">
            <a:avLst/>
          </a:prstGeom>
          <a:noFill/>
          <a:ln>
            <a:noFill/>
          </a:ln>
        </p:spPr>
        <p:txBody>
          <a:bodyPr spcFirstLastPara="1" wrap="square" lIns="0" tIns="0" rIns="0" bIns="0" anchor="t" anchorCtr="0">
            <a:spAutoFit/>
          </a:bodyPr>
          <a:lstStyle/>
          <a:p>
            <a:pPr marL="0" marR="0" lvl="0" indent="0" rtl="0">
              <a:lnSpc>
                <a:spcPct val="111001"/>
              </a:lnSpc>
              <a:spcBef>
                <a:spcPts val="0"/>
              </a:spcBef>
              <a:spcAft>
                <a:spcPts val="0"/>
              </a:spcAft>
              <a:buNone/>
            </a:pPr>
            <a:r>
              <a:rPr lang="en-US" sz="6999" dirty="0">
                <a:solidFill>
                  <a:srgbClr val="F1E894"/>
                </a:solidFill>
                <a:latin typeface="Paytone One"/>
                <a:sym typeface="Paytone One"/>
              </a:rPr>
              <a:t>PROJECT SUMMARY &amp; KEY FINDINGS</a:t>
            </a:r>
            <a:endParaRPr dirty="0"/>
          </a:p>
        </p:txBody>
      </p:sp>
      <p:sp>
        <p:nvSpPr>
          <p:cNvPr id="224" name="Google Shape;224;p22">
            <a:extLst>
              <a:ext uri="{FF2B5EF4-FFF2-40B4-BE49-F238E27FC236}">
                <a16:creationId xmlns:a16="http://schemas.microsoft.com/office/drawing/2014/main" id="{5F02172F-DF37-1F04-E5A1-B70AD78600F4}"/>
              </a:ext>
            </a:extLst>
          </p:cNvPr>
          <p:cNvSpPr txBox="1"/>
          <p:nvPr/>
        </p:nvSpPr>
        <p:spPr>
          <a:xfrm>
            <a:off x="1178481" y="3103911"/>
            <a:ext cx="15931038" cy="6721840"/>
          </a:xfrm>
          <a:prstGeom prst="rect">
            <a:avLst/>
          </a:prstGeom>
          <a:noFill/>
          <a:ln>
            <a:noFill/>
          </a:ln>
        </p:spPr>
        <p:txBody>
          <a:bodyPr spcFirstLastPara="1" wrap="square" lIns="0" tIns="0" rIns="0" bIns="0" anchor="t" anchorCtr="0">
            <a:spAutoFit/>
          </a:bodyPr>
          <a:lstStyle/>
          <a:p>
            <a:pPr marL="342900" lvl="1" indent="-342900">
              <a:lnSpc>
                <a:spcPct val="130000"/>
              </a:lnSpc>
              <a:buClr>
                <a:schemeClr val="bg1"/>
              </a:buClr>
              <a:buFont typeface="Arial" panose="020B0604020202020204" pitchFamily="34" charset="0"/>
              <a:buChar char="•"/>
            </a:pPr>
            <a:r>
              <a:rPr lang="en-IN" sz="24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400" dirty="0">
                <a:solidFill>
                  <a:schemeClr val="bg1"/>
                </a:solidFill>
              </a:rPr>
              <a:t>This project aims to build a high-precision machine learning model to predict solar energy production based on 	atmospheric and environmental data’</a:t>
            </a:r>
          </a:p>
          <a:p>
            <a:pPr marL="342900" lvl="4" indent="-342900">
              <a:lnSpc>
                <a:spcPct val="130000"/>
              </a:lnSpc>
              <a:buClr>
                <a:schemeClr val="bg1"/>
              </a:buClr>
              <a:buFont typeface="Arial" panose="020B0604020202020204" pitchFamily="34" charset="0"/>
              <a:buChar char="•"/>
            </a:pPr>
            <a:r>
              <a:rPr lang="en-IN" sz="24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Solar energy is highly volatile and dependent on chaotic weather patterns. The objective was to develop a Regression</a:t>
            </a:r>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model capable of predicting the power-generated (in Joules) for 3-hour intervals using 8 key meteorological features.</a:t>
            </a:r>
          </a:p>
          <a:p>
            <a:pPr marL="342900" lvl="4" indent="-342900">
              <a:lnSpc>
                <a:spcPct val="130000"/>
              </a:lnSpc>
              <a:buClr>
                <a:schemeClr val="bg1"/>
              </a:buClr>
              <a:buFont typeface="Arial" panose="020B0604020202020204" pitchFamily="34" charset="0"/>
              <a:buChar cha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The dataset consisted of 2,920 instances and 10 columns with power-generated as the target.</a:t>
            </a:r>
          </a:p>
          <a:p>
            <a:pPr marL="342900" lvl="5" indent="-342900">
              <a:lnSpc>
                <a:spcPct val="130000"/>
              </a:lnSpc>
              <a:buClr>
                <a:schemeClr val="bg1"/>
              </a:buClr>
              <a:buFont typeface="Arial" panose="020B0604020202020204" pitchFamily="34" charset="0"/>
              <a:buChar cha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Identified strong negative correlations between solar noon distance/sky cover and power output after conducting EDA.</a:t>
            </a:r>
          </a:p>
          <a:p>
            <a:pPr marL="342900" lvl="5" indent="-342900">
              <a:lnSpc>
                <a:spcPct val="130000"/>
              </a:lnSpc>
              <a:buClr>
                <a:schemeClr val="bg1"/>
              </a:buClr>
              <a:buFont typeface="Arial" panose="020B0604020202020204" pitchFamily="34" charset="0"/>
              <a:buChar cha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Conducted </a:t>
            </a:r>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VIF (Variance Inflation Factor)</a:t>
            </a: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analysis and removed the visibility feature due to high multicollinearity and 	low predictive significance.</a:t>
            </a:r>
          </a:p>
          <a:p>
            <a:pPr marL="342900" lvl="5" indent="-342900">
              <a:lnSpc>
                <a:spcPct val="130000"/>
              </a:lnSpc>
              <a:buClr>
                <a:schemeClr val="bg1"/>
              </a:buClr>
              <a:buFont typeface="Arial" panose="020B0604020202020204" pitchFamily="34" charset="0"/>
              <a:buChar cha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Utilized StandardScaler to normalize features and the target variable, ensuring all inputs were weighted fairly by the 	model.</a:t>
            </a:r>
          </a:p>
          <a:p>
            <a:pPr lvl="5">
              <a:lnSpc>
                <a:spcPct val="130000"/>
              </a:lnSpc>
              <a:buClr>
                <a:schemeClr val="bg1"/>
              </a:buCl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Multiple models were tested, including Linear Regression and Ridge Regression, but the Gradient Boosting Regressor was 	selected as the final model.</a:t>
            </a:r>
          </a:p>
          <a:p>
            <a:pPr lvl="5">
              <a:lnSpc>
                <a:spcPct val="130000"/>
              </a:lnSpc>
              <a:buClr>
                <a:schemeClr val="bg1"/>
              </a:buCl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The project was deployed using the Streamlit framework, creating an interactive web application.</a:t>
            </a:r>
          </a:p>
          <a:p>
            <a:pPr lvl="4">
              <a:lnSpc>
                <a:spcPct val="130000"/>
              </a:lnSpc>
              <a:buClr>
                <a:schemeClr val="bg1"/>
              </a:buCl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a:t>
            </a:r>
            <a:endParaRPr lang="en-IN" sz="24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132929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BCC8D4"/>
        </a:solidFill>
        <a:effectLst/>
      </p:bgPr>
    </p:bg>
    <p:spTree>
      <p:nvGrpSpPr>
        <p:cNvPr id="1" name="Shape 440"/>
        <p:cNvGrpSpPr/>
        <p:nvPr/>
      </p:nvGrpSpPr>
      <p:grpSpPr>
        <a:xfrm>
          <a:off x="0" y="0"/>
          <a:ext cx="0" cy="0"/>
          <a:chOff x="0" y="0"/>
          <a:chExt cx="0" cy="0"/>
        </a:xfrm>
      </p:grpSpPr>
      <p:pic>
        <p:nvPicPr>
          <p:cNvPr id="441" name="Google Shape;441;p33"/>
          <p:cNvPicPr preferRelativeResize="0"/>
          <p:nvPr/>
        </p:nvPicPr>
        <p:blipFill>
          <a:blip r:embed="rId3">
            <a:alphaModFix/>
          </a:blip>
          <a:stretch>
            <a:fillRect/>
          </a:stretch>
        </p:blipFill>
        <p:spPr>
          <a:xfrm>
            <a:off x="124745" y="56397"/>
            <a:ext cx="18288000" cy="13242715"/>
          </a:xfrm>
          <a:prstGeom prst="rect">
            <a:avLst/>
          </a:prstGeom>
          <a:noFill/>
          <a:ln>
            <a:noFill/>
          </a:ln>
        </p:spPr>
      </p:pic>
      <p:pic>
        <p:nvPicPr>
          <p:cNvPr id="442" name="Google Shape;442;p33"/>
          <p:cNvPicPr preferRelativeResize="0"/>
          <p:nvPr/>
        </p:nvPicPr>
        <p:blipFill>
          <a:blip r:embed="rId4">
            <a:alphaModFix/>
          </a:blip>
          <a:stretch>
            <a:fillRect/>
          </a:stretch>
        </p:blipFill>
        <p:spPr>
          <a:xfrm>
            <a:off x="658875" y="609315"/>
            <a:ext cx="17295831" cy="9450201"/>
          </a:xfrm>
          <a:prstGeom prst="rect">
            <a:avLst/>
          </a:prstGeom>
          <a:noFill/>
          <a:ln>
            <a:noFill/>
          </a:ln>
        </p:spPr>
      </p:pic>
      <p:sp>
        <p:nvSpPr>
          <p:cNvPr id="447" name="Google Shape;447;p33"/>
          <p:cNvSpPr txBox="1"/>
          <p:nvPr/>
        </p:nvSpPr>
        <p:spPr>
          <a:xfrm>
            <a:off x="5849146" y="2593737"/>
            <a:ext cx="6589800" cy="3747600"/>
          </a:xfrm>
          <a:prstGeom prst="rect">
            <a:avLst/>
          </a:prstGeom>
          <a:noFill/>
          <a:ln>
            <a:noFill/>
          </a:ln>
        </p:spPr>
        <p:txBody>
          <a:bodyPr spcFirstLastPara="1" wrap="square" lIns="0" tIns="0" rIns="0" bIns="0" anchor="t" anchorCtr="0">
            <a:spAutoFit/>
          </a:bodyPr>
          <a:lstStyle/>
          <a:p>
            <a:pPr marL="0" marR="0" lvl="0" indent="0" algn="ctr" rtl="0">
              <a:lnSpc>
                <a:spcPct val="85000"/>
              </a:lnSpc>
              <a:spcBef>
                <a:spcPts val="0"/>
              </a:spcBef>
              <a:spcAft>
                <a:spcPts val="0"/>
              </a:spcAft>
              <a:buNone/>
            </a:pPr>
            <a:r>
              <a:rPr lang="en-US" sz="14322" b="0" i="0" u="none" strike="noStrike" cap="none" dirty="0">
                <a:solidFill>
                  <a:srgbClr val="F1E894"/>
                </a:solidFill>
                <a:latin typeface="Paytone One"/>
                <a:ea typeface="Paytone One"/>
                <a:cs typeface="Paytone One"/>
                <a:sym typeface="Paytone One"/>
              </a:rPr>
              <a:t>Thank</a:t>
            </a:r>
            <a:endParaRPr dirty="0"/>
          </a:p>
          <a:p>
            <a:pPr marL="0" marR="0" lvl="0" indent="0" algn="ctr" rtl="0">
              <a:lnSpc>
                <a:spcPct val="85000"/>
              </a:lnSpc>
              <a:spcBef>
                <a:spcPts val="0"/>
              </a:spcBef>
              <a:spcAft>
                <a:spcPts val="0"/>
              </a:spcAft>
              <a:buNone/>
            </a:pPr>
            <a:r>
              <a:rPr lang="en-US" sz="14322" b="0" i="0" u="none" strike="noStrike" cap="none" dirty="0">
                <a:solidFill>
                  <a:srgbClr val="F1E894"/>
                </a:solidFill>
                <a:latin typeface="Paytone One"/>
                <a:ea typeface="Paytone One"/>
                <a:cs typeface="Paytone One"/>
                <a:sym typeface="Paytone One"/>
              </a:rPr>
              <a:t>you!</a:t>
            </a:r>
            <a:endParaRPr dirty="0"/>
          </a:p>
        </p:txBody>
      </p:sp>
      <p:pic>
        <p:nvPicPr>
          <p:cNvPr id="450" name="Google Shape;450;p33"/>
          <p:cNvPicPr preferRelativeResize="0"/>
          <p:nvPr/>
        </p:nvPicPr>
        <p:blipFill>
          <a:blip r:embed="rId5">
            <a:alphaModFix/>
          </a:blip>
          <a:stretch>
            <a:fillRect/>
          </a:stretch>
        </p:blipFill>
        <p:spPr>
          <a:xfrm>
            <a:off x="5933325" y="4362090"/>
            <a:ext cx="6421351" cy="285400"/>
          </a:xfrm>
          <a:prstGeom prst="rect">
            <a:avLst/>
          </a:prstGeom>
          <a:noFill/>
          <a:ln>
            <a:noFill/>
          </a:ln>
        </p:spPr>
      </p:pic>
      <p:pic>
        <p:nvPicPr>
          <p:cNvPr id="451" name="Google Shape;451;p33"/>
          <p:cNvPicPr preferRelativeResize="0"/>
          <p:nvPr/>
        </p:nvPicPr>
        <p:blipFill>
          <a:blip r:embed="rId6">
            <a:alphaModFix/>
          </a:blip>
          <a:stretch>
            <a:fillRect/>
          </a:stretch>
        </p:blipFill>
        <p:spPr>
          <a:xfrm>
            <a:off x="6640123" y="6423682"/>
            <a:ext cx="5007754" cy="2854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888</TotalTime>
  <Words>1441</Words>
  <Application>Microsoft Office PowerPoint</Application>
  <PresentationFormat>Custom</PresentationFormat>
  <Paragraphs>156</Paragraphs>
  <Slides>18</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Nunito</vt:lpstr>
      <vt:lpstr>Nunito SemiBold</vt:lpstr>
      <vt:lpstr>Paytone One</vt:lpstr>
      <vt:lpstr>Calibri</vt:lpstr>
      <vt:lpstr>Arial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Aswin E V</dc:creator>
  <cp:lastModifiedBy>Aswin E V</cp:lastModifiedBy>
  <cp:revision>3</cp:revision>
  <dcterms:modified xsi:type="dcterms:W3CDTF">2026-01-11T09:56:28Z</dcterms:modified>
</cp:coreProperties>
</file>